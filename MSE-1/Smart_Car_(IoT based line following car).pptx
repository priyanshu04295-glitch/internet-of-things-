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3"/>
  </p:notesMasterIdLst>
  <p:sldIdLst>
    <p:sldId id="256" r:id="rId2"/>
    <p:sldId id="258" r:id="rId3"/>
    <p:sldId id="297" r:id="rId4"/>
    <p:sldId id="298" r:id="rId5"/>
    <p:sldId id="299" r:id="rId6"/>
    <p:sldId id="300" r:id="rId7"/>
    <p:sldId id="301" r:id="rId8"/>
    <p:sldId id="302" r:id="rId9"/>
    <p:sldId id="303" r:id="rId10"/>
    <p:sldId id="304" r:id="rId11"/>
    <p:sldId id="305" r:id="rId12"/>
  </p:sldIdLst>
  <p:sldSz cx="9144000" cy="5143500" type="screen16x9"/>
  <p:notesSz cx="6858000" cy="9144000"/>
  <p:embeddedFontLst>
    <p:embeddedFont>
      <p:font typeface="Audiowide" panose="020B0604020202020204" charset="0"/>
      <p:regular r:id="rId14"/>
    </p:embeddedFont>
    <p:embeddedFont>
      <p:font typeface="Open Sans" panose="020B060603050402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A7A138-63A7-4C7F-888A-8DFE695EFCB4}">
  <a:tblStyle styleId="{D5A7A138-63A7-4C7F-888A-8DFE695EFCB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843A8CE-EAC9-4AF4-95D6-B94A75A28AB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617" autoAdjust="0"/>
  </p:normalViewPr>
  <p:slideViewPr>
    <p:cSldViewPr snapToGrid="0">
      <p:cViewPr varScale="1">
        <p:scale>
          <a:sx n="91" d="100"/>
          <a:sy n="91" d="100"/>
        </p:scale>
        <p:origin x="121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ff18b49f3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CCC07960-65EC-4992-C86B-4706A5EE7EAD}"/>
            </a:ext>
          </a:extLst>
        </p:cNvPr>
        <p:cNvGrpSpPr/>
        <p:nvPr/>
      </p:nvGrpSpPr>
      <p:grpSpPr>
        <a:xfrm>
          <a:off x="0" y="0"/>
          <a:ext cx="0" cy="0"/>
          <a:chOff x="0" y="0"/>
          <a:chExt cx="0" cy="0"/>
        </a:xfrm>
      </p:grpSpPr>
      <p:sp>
        <p:nvSpPr>
          <p:cNvPr id="160" name="Google Shape;160;g1ff18b49f31_1_34:notes">
            <a:extLst>
              <a:ext uri="{FF2B5EF4-FFF2-40B4-BE49-F238E27FC236}">
                <a16:creationId xmlns:a16="http://schemas.microsoft.com/office/drawing/2014/main" id="{B71C270F-5E3F-1015-E405-2A1F47B676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ff18b49f31_1_34:notes">
            <a:extLst>
              <a:ext uri="{FF2B5EF4-FFF2-40B4-BE49-F238E27FC236}">
                <a16:creationId xmlns:a16="http://schemas.microsoft.com/office/drawing/2014/main" id="{0773BC4F-663E-F49D-8CEB-838469C16D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5775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036DB2FB-F3FF-DDB8-F0A6-0B48C0173BD5}"/>
            </a:ext>
          </a:extLst>
        </p:cNvPr>
        <p:cNvGrpSpPr/>
        <p:nvPr/>
      </p:nvGrpSpPr>
      <p:grpSpPr>
        <a:xfrm>
          <a:off x="0" y="0"/>
          <a:ext cx="0" cy="0"/>
          <a:chOff x="0" y="0"/>
          <a:chExt cx="0" cy="0"/>
        </a:xfrm>
      </p:grpSpPr>
      <p:sp>
        <p:nvSpPr>
          <p:cNvPr id="160" name="Google Shape;160;g1ff18b49f31_1_34:notes">
            <a:extLst>
              <a:ext uri="{FF2B5EF4-FFF2-40B4-BE49-F238E27FC236}">
                <a16:creationId xmlns:a16="http://schemas.microsoft.com/office/drawing/2014/main" id="{ED31A2B1-5ACA-79D3-3482-D656FF9777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ff18b49f31_1_34:notes">
            <a:extLst>
              <a:ext uri="{FF2B5EF4-FFF2-40B4-BE49-F238E27FC236}">
                <a16:creationId xmlns:a16="http://schemas.microsoft.com/office/drawing/2014/main" id="{858AAB8C-3012-093D-F1B5-2597294F1B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5722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41A1298A-85E7-20CD-1785-E205D22756A8}"/>
            </a:ext>
          </a:extLst>
        </p:cNvPr>
        <p:cNvGrpSpPr/>
        <p:nvPr/>
      </p:nvGrpSpPr>
      <p:grpSpPr>
        <a:xfrm>
          <a:off x="0" y="0"/>
          <a:ext cx="0" cy="0"/>
          <a:chOff x="0" y="0"/>
          <a:chExt cx="0" cy="0"/>
        </a:xfrm>
      </p:grpSpPr>
      <p:sp>
        <p:nvSpPr>
          <p:cNvPr id="160" name="Google Shape;160;g1ff18b49f31_1_34:notes">
            <a:extLst>
              <a:ext uri="{FF2B5EF4-FFF2-40B4-BE49-F238E27FC236}">
                <a16:creationId xmlns:a16="http://schemas.microsoft.com/office/drawing/2014/main" id="{DEFC12CB-4A7C-3767-B77C-F67472C1FC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ff18b49f31_1_34:notes">
            <a:extLst>
              <a:ext uri="{FF2B5EF4-FFF2-40B4-BE49-F238E27FC236}">
                <a16:creationId xmlns:a16="http://schemas.microsoft.com/office/drawing/2014/main" id="{82F3E9AC-C329-21C9-BF12-5393D34B11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2356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8DB5573E-9C9E-385E-CC45-C80D0811DB34}"/>
            </a:ext>
          </a:extLst>
        </p:cNvPr>
        <p:cNvGrpSpPr/>
        <p:nvPr/>
      </p:nvGrpSpPr>
      <p:grpSpPr>
        <a:xfrm>
          <a:off x="0" y="0"/>
          <a:ext cx="0" cy="0"/>
          <a:chOff x="0" y="0"/>
          <a:chExt cx="0" cy="0"/>
        </a:xfrm>
      </p:grpSpPr>
      <p:sp>
        <p:nvSpPr>
          <p:cNvPr id="160" name="Google Shape;160;g1ff18b49f31_1_34:notes">
            <a:extLst>
              <a:ext uri="{FF2B5EF4-FFF2-40B4-BE49-F238E27FC236}">
                <a16:creationId xmlns:a16="http://schemas.microsoft.com/office/drawing/2014/main" id="{BC62039F-756C-7316-0B2D-BF3E8C159D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ff18b49f31_1_34:notes">
            <a:extLst>
              <a:ext uri="{FF2B5EF4-FFF2-40B4-BE49-F238E27FC236}">
                <a16:creationId xmlns:a16="http://schemas.microsoft.com/office/drawing/2014/main" id="{218A1037-1ECD-DBD5-B535-35AAF329CF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4381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2637599E-AB0A-4D77-8D95-C122294F72F9}"/>
            </a:ext>
          </a:extLst>
        </p:cNvPr>
        <p:cNvGrpSpPr/>
        <p:nvPr/>
      </p:nvGrpSpPr>
      <p:grpSpPr>
        <a:xfrm>
          <a:off x="0" y="0"/>
          <a:ext cx="0" cy="0"/>
          <a:chOff x="0" y="0"/>
          <a:chExt cx="0" cy="0"/>
        </a:xfrm>
      </p:grpSpPr>
      <p:sp>
        <p:nvSpPr>
          <p:cNvPr id="160" name="Google Shape;160;g1ff18b49f31_1_34:notes">
            <a:extLst>
              <a:ext uri="{FF2B5EF4-FFF2-40B4-BE49-F238E27FC236}">
                <a16:creationId xmlns:a16="http://schemas.microsoft.com/office/drawing/2014/main" id="{7E21EEA5-6FFF-6C5D-5AB6-9CDC407C6C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ff18b49f31_1_34:notes">
            <a:extLst>
              <a:ext uri="{FF2B5EF4-FFF2-40B4-BE49-F238E27FC236}">
                <a16:creationId xmlns:a16="http://schemas.microsoft.com/office/drawing/2014/main" id="{22BEACF9-0AC0-4386-A183-CA2019736E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3652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9AC90202-B0B5-81E7-95F6-72E89D81F8C1}"/>
            </a:ext>
          </a:extLst>
        </p:cNvPr>
        <p:cNvGrpSpPr/>
        <p:nvPr/>
      </p:nvGrpSpPr>
      <p:grpSpPr>
        <a:xfrm>
          <a:off x="0" y="0"/>
          <a:ext cx="0" cy="0"/>
          <a:chOff x="0" y="0"/>
          <a:chExt cx="0" cy="0"/>
        </a:xfrm>
      </p:grpSpPr>
      <p:sp>
        <p:nvSpPr>
          <p:cNvPr id="160" name="Google Shape;160;g1ff18b49f31_1_34:notes">
            <a:extLst>
              <a:ext uri="{FF2B5EF4-FFF2-40B4-BE49-F238E27FC236}">
                <a16:creationId xmlns:a16="http://schemas.microsoft.com/office/drawing/2014/main" id="{E286FE67-A8E5-EF36-7015-3ACCB69388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ff18b49f31_1_34:notes">
            <a:extLst>
              <a:ext uri="{FF2B5EF4-FFF2-40B4-BE49-F238E27FC236}">
                <a16:creationId xmlns:a16="http://schemas.microsoft.com/office/drawing/2014/main" id="{E82CAD47-EEC9-A18D-251E-4BFE67948D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6934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4850D46C-0D66-1799-95C6-D0B4345D654E}"/>
            </a:ext>
          </a:extLst>
        </p:cNvPr>
        <p:cNvGrpSpPr/>
        <p:nvPr/>
      </p:nvGrpSpPr>
      <p:grpSpPr>
        <a:xfrm>
          <a:off x="0" y="0"/>
          <a:ext cx="0" cy="0"/>
          <a:chOff x="0" y="0"/>
          <a:chExt cx="0" cy="0"/>
        </a:xfrm>
      </p:grpSpPr>
      <p:sp>
        <p:nvSpPr>
          <p:cNvPr id="160" name="Google Shape;160;g1ff18b49f31_1_34:notes">
            <a:extLst>
              <a:ext uri="{FF2B5EF4-FFF2-40B4-BE49-F238E27FC236}">
                <a16:creationId xmlns:a16="http://schemas.microsoft.com/office/drawing/2014/main" id="{8CE6C361-4277-E6EA-49F8-D290DC0DF0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ff18b49f31_1_34:notes">
            <a:extLst>
              <a:ext uri="{FF2B5EF4-FFF2-40B4-BE49-F238E27FC236}">
                <a16:creationId xmlns:a16="http://schemas.microsoft.com/office/drawing/2014/main" id="{EB5F4B2D-EEF5-A77C-EF73-E00F27B642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2712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8C4091E3-ACC1-12C0-8EA8-6B09426919AD}"/>
            </a:ext>
          </a:extLst>
        </p:cNvPr>
        <p:cNvGrpSpPr/>
        <p:nvPr/>
      </p:nvGrpSpPr>
      <p:grpSpPr>
        <a:xfrm>
          <a:off x="0" y="0"/>
          <a:ext cx="0" cy="0"/>
          <a:chOff x="0" y="0"/>
          <a:chExt cx="0" cy="0"/>
        </a:xfrm>
      </p:grpSpPr>
      <p:sp>
        <p:nvSpPr>
          <p:cNvPr id="160" name="Google Shape;160;g1ff18b49f31_1_34:notes">
            <a:extLst>
              <a:ext uri="{FF2B5EF4-FFF2-40B4-BE49-F238E27FC236}">
                <a16:creationId xmlns:a16="http://schemas.microsoft.com/office/drawing/2014/main" id="{917DB94E-A1A3-390D-540D-D873FECE97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ff18b49f31_1_34:notes">
            <a:extLst>
              <a:ext uri="{FF2B5EF4-FFF2-40B4-BE49-F238E27FC236}">
                <a16:creationId xmlns:a16="http://schemas.microsoft.com/office/drawing/2014/main" id="{C556A8C8-FF0B-D8BD-156C-637ABE5CA0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784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FB48ACE8-2433-873C-7574-00E806E62A20}"/>
            </a:ext>
          </a:extLst>
        </p:cNvPr>
        <p:cNvGrpSpPr/>
        <p:nvPr/>
      </p:nvGrpSpPr>
      <p:grpSpPr>
        <a:xfrm>
          <a:off x="0" y="0"/>
          <a:ext cx="0" cy="0"/>
          <a:chOff x="0" y="0"/>
          <a:chExt cx="0" cy="0"/>
        </a:xfrm>
      </p:grpSpPr>
      <p:sp>
        <p:nvSpPr>
          <p:cNvPr id="160" name="Google Shape;160;g1ff18b49f31_1_34:notes">
            <a:extLst>
              <a:ext uri="{FF2B5EF4-FFF2-40B4-BE49-F238E27FC236}">
                <a16:creationId xmlns:a16="http://schemas.microsoft.com/office/drawing/2014/main" id="{0852DDF2-FC57-957C-B26F-735095342D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ff18b49f31_1_34:notes">
            <a:extLst>
              <a:ext uri="{FF2B5EF4-FFF2-40B4-BE49-F238E27FC236}">
                <a16:creationId xmlns:a16="http://schemas.microsoft.com/office/drawing/2014/main" id="{3924AAD2-1D73-4A52-1BEA-1F865D268E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85654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3000"/>
          </a:blip>
          <a:stretch>
            <a:fillRect/>
          </a:stretch>
        </p:blipFill>
        <p:spPr>
          <a:xfrm>
            <a:off x="0" y="0"/>
            <a:ext cx="9143990" cy="5143500"/>
          </a:xfrm>
          <a:prstGeom prst="rect">
            <a:avLst/>
          </a:prstGeom>
          <a:noFill/>
          <a:ln>
            <a:noFill/>
          </a:ln>
        </p:spPr>
      </p:pic>
      <p:sp>
        <p:nvSpPr>
          <p:cNvPr id="10" name="Google Shape;10;p2"/>
          <p:cNvSpPr txBox="1">
            <a:spLocks noGrp="1"/>
          </p:cNvSpPr>
          <p:nvPr>
            <p:ph type="ctrTitle"/>
          </p:nvPr>
        </p:nvSpPr>
        <p:spPr>
          <a:xfrm>
            <a:off x="715050" y="949650"/>
            <a:ext cx="4297800" cy="2834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b" anchorCtr="0">
            <a:noAutofit/>
          </a:bodyPr>
          <a:lstStyle>
            <a:lvl1pPr lvl="0">
              <a:lnSpc>
                <a:spcPct val="100000"/>
              </a:lnSpc>
              <a:spcBef>
                <a:spcPts val="0"/>
              </a:spcBef>
              <a:spcAft>
                <a:spcPts val="0"/>
              </a:spcAft>
              <a:buClr>
                <a:srgbClr val="191919"/>
              </a:buClr>
              <a:buSzPts val="5200"/>
              <a:buNone/>
              <a:defRPr sz="4000" b="0">
                <a:solidFill>
                  <a:schemeClr val="lt2"/>
                </a:solidFill>
                <a:latin typeface="Audiowide"/>
                <a:ea typeface="Audiowide"/>
                <a:cs typeface="Audiowide"/>
                <a:sym typeface="Audiowide"/>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5050" y="3784350"/>
            <a:ext cx="4297800" cy="40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pic>
        <p:nvPicPr>
          <p:cNvPr id="39" name="Google Shape;39;p9"/>
          <p:cNvPicPr preferRelativeResize="0"/>
          <p:nvPr/>
        </p:nvPicPr>
        <p:blipFill>
          <a:blip r:embed="rId2">
            <a:alphaModFix amt="3000"/>
          </a:blip>
          <a:stretch>
            <a:fillRect/>
          </a:stretch>
        </p:blipFill>
        <p:spPr>
          <a:xfrm>
            <a:off x="0" y="0"/>
            <a:ext cx="9143990" cy="5143500"/>
          </a:xfrm>
          <a:prstGeom prst="rect">
            <a:avLst/>
          </a:prstGeom>
          <a:noFill/>
          <a:ln>
            <a:noFill/>
          </a:ln>
        </p:spPr>
      </p:pic>
      <p:sp>
        <p:nvSpPr>
          <p:cNvPr id="40" name="Google Shape;40;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1" name="Google Shape;41;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a:spLocks noGrp="1"/>
          </p:cNvSpPr>
          <p:nvPr>
            <p:ph type="pic" idx="2"/>
          </p:nvPr>
        </p:nvSpPr>
        <p:spPr>
          <a:xfrm>
            <a:off x="0" y="0"/>
            <a:ext cx="9144000" cy="5143500"/>
          </a:xfrm>
          <a:prstGeom prst="rect">
            <a:avLst/>
          </a:prstGeom>
          <a:noFill/>
          <a:ln>
            <a:noFill/>
          </a:ln>
        </p:spPr>
      </p:sp>
      <p:sp>
        <p:nvSpPr>
          <p:cNvPr id="44" name="Google Shape;44;p10"/>
          <p:cNvSpPr txBox="1">
            <a:spLocks noGrp="1"/>
          </p:cNvSpPr>
          <p:nvPr>
            <p:ph type="title"/>
          </p:nvPr>
        </p:nvSpPr>
        <p:spPr>
          <a:xfrm>
            <a:off x="720000" y="3859100"/>
            <a:ext cx="7704000" cy="7494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pic>
        <p:nvPicPr>
          <p:cNvPr id="46" name="Google Shape;46;p11"/>
          <p:cNvPicPr preferRelativeResize="0"/>
          <p:nvPr/>
        </p:nvPicPr>
        <p:blipFill>
          <a:blip r:embed="rId2">
            <a:alphaModFix amt="3000"/>
          </a:blip>
          <a:stretch>
            <a:fillRect/>
          </a:stretch>
        </p:blipFill>
        <p:spPr>
          <a:xfrm>
            <a:off x="0" y="0"/>
            <a:ext cx="9143990" cy="5143500"/>
          </a:xfrm>
          <a:prstGeom prst="rect">
            <a:avLst/>
          </a:prstGeom>
          <a:noFill/>
          <a:ln>
            <a:noFill/>
          </a:ln>
        </p:spPr>
      </p:pic>
      <p:sp>
        <p:nvSpPr>
          <p:cNvPr id="47" name="Google Shape;47;p11"/>
          <p:cNvSpPr txBox="1">
            <a:spLocks noGrp="1"/>
          </p:cNvSpPr>
          <p:nvPr>
            <p:ph type="title" hasCustomPrompt="1"/>
          </p:nvPr>
        </p:nvSpPr>
        <p:spPr>
          <a:xfrm>
            <a:off x="1284000" y="1366338"/>
            <a:ext cx="6576000" cy="1511100"/>
          </a:xfrm>
          <a:prstGeom prst="rect">
            <a:avLst/>
          </a:prstGeom>
        </p:spPr>
        <p:txBody>
          <a:bodyPr spcFirstLastPara="1" wrap="square" lIns="91425" tIns="91425" rIns="91425" bIns="91425" anchor="t"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8" name="Google Shape;48;p11"/>
          <p:cNvSpPr txBox="1">
            <a:spLocks noGrp="1"/>
          </p:cNvSpPr>
          <p:nvPr>
            <p:ph type="subTitle" idx="1"/>
          </p:nvPr>
        </p:nvSpPr>
        <p:spPr>
          <a:xfrm>
            <a:off x="1284000" y="3063763"/>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0"/>
        <p:cNvGrpSpPr/>
        <p:nvPr/>
      </p:nvGrpSpPr>
      <p:grpSpPr>
        <a:xfrm>
          <a:off x="0" y="0"/>
          <a:ext cx="0" cy="0"/>
          <a:chOff x="0" y="0"/>
          <a:chExt cx="0" cy="0"/>
        </a:xfrm>
      </p:grpSpPr>
      <p:pic>
        <p:nvPicPr>
          <p:cNvPr id="51" name="Google Shape;51;p13"/>
          <p:cNvPicPr preferRelativeResize="0"/>
          <p:nvPr/>
        </p:nvPicPr>
        <p:blipFill>
          <a:blip r:embed="rId2">
            <a:alphaModFix amt="3000"/>
          </a:blip>
          <a:stretch>
            <a:fillRect/>
          </a:stretch>
        </p:blipFill>
        <p:spPr>
          <a:xfrm>
            <a:off x="0" y="0"/>
            <a:ext cx="9143990" cy="5143500"/>
          </a:xfrm>
          <a:prstGeom prst="rect">
            <a:avLst/>
          </a:prstGeom>
          <a:noFill/>
          <a:ln>
            <a:noFill/>
          </a:ln>
        </p:spPr>
      </p:pic>
      <p:sp>
        <p:nvSpPr>
          <p:cNvPr id="52" name="Google Shape;5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 name="Google Shape;53;p13"/>
          <p:cNvSpPr txBox="1">
            <a:spLocks noGrp="1"/>
          </p:cNvSpPr>
          <p:nvPr>
            <p:ph type="title" idx="2" hasCustomPrompt="1"/>
          </p:nvPr>
        </p:nvSpPr>
        <p:spPr>
          <a:xfrm>
            <a:off x="719975" y="1728533"/>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a:spLocks noGrp="1"/>
          </p:cNvSpPr>
          <p:nvPr>
            <p:ph type="title" idx="3" hasCustomPrompt="1"/>
          </p:nvPr>
        </p:nvSpPr>
        <p:spPr>
          <a:xfrm>
            <a:off x="719975" y="3161941"/>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title" idx="4" hasCustomPrompt="1"/>
          </p:nvPr>
        </p:nvSpPr>
        <p:spPr>
          <a:xfrm>
            <a:off x="3291900" y="1728533"/>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title" idx="5" hasCustomPrompt="1"/>
          </p:nvPr>
        </p:nvSpPr>
        <p:spPr>
          <a:xfrm>
            <a:off x="3291900" y="3161941"/>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title" idx="6" hasCustomPrompt="1"/>
          </p:nvPr>
        </p:nvSpPr>
        <p:spPr>
          <a:xfrm>
            <a:off x="5868700" y="1728533"/>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title" idx="7" hasCustomPrompt="1"/>
          </p:nvPr>
        </p:nvSpPr>
        <p:spPr>
          <a:xfrm>
            <a:off x="5868700" y="3161941"/>
            <a:ext cx="914400" cy="548700"/>
          </a:xfrm>
          <a:prstGeom prst="rect">
            <a:avLst/>
          </a:prstGeom>
          <a:noFill/>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subTitle" idx="1"/>
          </p:nvPr>
        </p:nvSpPr>
        <p:spPr>
          <a:xfrm>
            <a:off x="719975" y="2258075"/>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
        <p:nvSpPr>
          <p:cNvPr id="60" name="Google Shape;60;p13"/>
          <p:cNvSpPr txBox="1">
            <a:spLocks noGrp="1"/>
          </p:cNvSpPr>
          <p:nvPr>
            <p:ph type="subTitle" idx="8"/>
          </p:nvPr>
        </p:nvSpPr>
        <p:spPr>
          <a:xfrm>
            <a:off x="3291900" y="2258075"/>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
        <p:nvSpPr>
          <p:cNvPr id="61" name="Google Shape;61;p13"/>
          <p:cNvSpPr txBox="1">
            <a:spLocks noGrp="1"/>
          </p:cNvSpPr>
          <p:nvPr>
            <p:ph type="subTitle" idx="9"/>
          </p:nvPr>
        </p:nvSpPr>
        <p:spPr>
          <a:xfrm>
            <a:off x="5868700" y="2258075"/>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
        <p:nvSpPr>
          <p:cNvPr id="62" name="Google Shape;62;p13"/>
          <p:cNvSpPr txBox="1">
            <a:spLocks noGrp="1"/>
          </p:cNvSpPr>
          <p:nvPr>
            <p:ph type="subTitle" idx="13"/>
          </p:nvPr>
        </p:nvSpPr>
        <p:spPr>
          <a:xfrm>
            <a:off x="719975" y="3691550"/>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
        <p:nvSpPr>
          <p:cNvPr id="63" name="Google Shape;63;p13"/>
          <p:cNvSpPr txBox="1">
            <a:spLocks noGrp="1"/>
          </p:cNvSpPr>
          <p:nvPr>
            <p:ph type="subTitle" idx="14"/>
          </p:nvPr>
        </p:nvSpPr>
        <p:spPr>
          <a:xfrm>
            <a:off x="3294338" y="3691550"/>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
        <p:nvSpPr>
          <p:cNvPr id="64" name="Google Shape;64;p13"/>
          <p:cNvSpPr txBox="1">
            <a:spLocks noGrp="1"/>
          </p:cNvSpPr>
          <p:nvPr>
            <p:ph type="subTitle" idx="15"/>
          </p:nvPr>
        </p:nvSpPr>
        <p:spPr>
          <a:xfrm>
            <a:off x="5868700" y="3691550"/>
            <a:ext cx="25602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800" b="1">
                <a:solidFill>
                  <a:schemeClr val="dk1"/>
                </a:solidFill>
              </a:defRPr>
            </a:lvl1pPr>
            <a:lvl2pPr lvl="1" rtl="0">
              <a:lnSpc>
                <a:spcPct val="100000"/>
              </a:lnSpc>
              <a:spcBef>
                <a:spcPts val="0"/>
              </a:spcBef>
              <a:spcAft>
                <a:spcPts val="0"/>
              </a:spcAft>
              <a:buSzPts val="2000"/>
              <a:buNone/>
              <a:defRPr sz="2000" b="1"/>
            </a:lvl2pPr>
            <a:lvl3pPr lvl="2" rtl="0">
              <a:lnSpc>
                <a:spcPct val="100000"/>
              </a:lnSpc>
              <a:spcBef>
                <a:spcPts val="0"/>
              </a:spcBef>
              <a:spcAft>
                <a:spcPts val="0"/>
              </a:spcAft>
              <a:buSzPts val="2000"/>
              <a:buNone/>
              <a:defRPr sz="2000" b="1"/>
            </a:lvl3pPr>
            <a:lvl4pPr lvl="3" rtl="0">
              <a:lnSpc>
                <a:spcPct val="100000"/>
              </a:lnSpc>
              <a:spcBef>
                <a:spcPts val="0"/>
              </a:spcBef>
              <a:spcAft>
                <a:spcPts val="0"/>
              </a:spcAft>
              <a:buSzPts val="2000"/>
              <a:buNone/>
              <a:defRPr sz="2000" b="1"/>
            </a:lvl4pPr>
            <a:lvl5pPr lvl="4" rtl="0">
              <a:lnSpc>
                <a:spcPct val="100000"/>
              </a:lnSpc>
              <a:spcBef>
                <a:spcPts val="0"/>
              </a:spcBef>
              <a:spcAft>
                <a:spcPts val="0"/>
              </a:spcAft>
              <a:buSzPts val="2000"/>
              <a:buNone/>
              <a:defRPr sz="2000" b="1"/>
            </a:lvl5pPr>
            <a:lvl6pPr lvl="5" rtl="0">
              <a:lnSpc>
                <a:spcPct val="100000"/>
              </a:lnSpc>
              <a:spcBef>
                <a:spcPts val="0"/>
              </a:spcBef>
              <a:spcAft>
                <a:spcPts val="0"/>
              </a:spcAft>
              <a:buSzPts val="2000"/>
              <a:buNone/>
              <a:defRPr sz="2000" b="1"/>
            </a:lvl6pPr>
            <a:lvl7pPr lvl="6" rtl="0">
              <a:lnSpc>
                <a:spcPct val="100000"/>
              </a:lnSpc>
              <a:spcBef>
                <a:spcPts val="0"/>
              </a:spcBef>
              <a:spcAft>
                <a:spcPts val="0"/>
              </a:spcAft>
              <a:buSzPts val="2000"/>
              <a:buNone/>
              <a:defRPr sz="2000" b="1"/>
            </a:lvl7pPr>
            <a:lvl8pPr lvl="7" rtl="0">
              <a:lnSpc>
                <a:spcPct val="100000"/>
              </a:lnSpc>
              <a:spcBef>
                <a:spcPts val="0"/>
              </a:spcBef>
              <a:spcAft>
                <a:spcPts val="0"/>
              </a:spcAft>
              <a:buSzPts val="2000"/>
              <a:buNone/>
              <a:defRPr sz="2000" b="1"/>
            </a:lvl8pPr>
            <a:lvl9pPr lvl="8" rtl="0">
              <a:lnSpc>
                <a:spcPct val="100000"/>
              </a:lnSpc>
              <a:spcBef>
                <a:spcPts val="0"/>
              </a:spcBef>
              <a:spcAft>
                <a:spcPts val="0"/>
              </a:spcAft>
              <a:buSzPts val="2000"/>
              <a:buNone/>
              <a:defRPr sz="2000" b="1"/>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34"/>
        <p:cNvGrpSpPr/>
        <p:nvPr/>
      </p:nvGrpSpPr>
      <p:grpSpPr>
        <a:xfrm>
          <a:off x="0" y="0"/>
          <a:ext cx="0" cy="0"/>
          <a:chOff x="0" y="0"/>
          <a:chExt cx="0" cy="0"/>
        </a:xfrm>
      </p:grpSpPr>
      <p:pic>
        <p:nvPicPr>
          <p:cNvPr id="135" name="Google Shape;135;p22"/>
          <p:cNvPicPr preferRelativeResize="0"/>
          <p:nvPr/>
        </p:nvPicPr>
        <p:blipFill>
          <a:blip r:embed="rId2">
            <a:alphaModFix amt="3000"/>
          </a:blip>
          <a:stretch>
            <a:fillRect/>
          </a:stretch>
        </p:blipFill>
        <p:spPr>
          <a:xfrm flipH="1">
            <a:off x="0" y="0"/>
            <a:ext cx="9143990" cy="51435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3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1pPr>
            <a:lvl2pPr lvl="1"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2pPr>
            <a:lvl3pPr lvl="2"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3pPr>
            <a:lvl4pPr lvl="3"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4pPr>
            <a:lvl5pPr lvl="4"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5pPr>
            <a:lvl6pPr lvl="5"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6pPr>
            <a:lvl7pPr lvl="6"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7pPr>
            <a:lvl8pPr lvl="7"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8pPr>
            <a:lvl9pPr lvl="8" rtl="0">
              <a:spcBef>
                <a:spcPts val="0"/>
              </a:spcBef>
              <a:spcAft>
                <a:spcPts val="0"/>
              </a:spcAft>
              <a:buClr>
                <a:schemeClr val="lt2"/>
              </a:buClr>
              <a:buSzPts val="3000"/>
              <a:buFont typeface="Audiowide"/>
              <a:buNone/>
              <a:defRPr sz="3000">
                <a:solidFill>
                  <a:schemeClr val="lt2"/>
                </a:solidFill>
                <a:latin typeface="Audiowide"/>
                <a:ea typeface="Audiowide"/>
                <a:cs typeface="Audiowide"/>
                <a:sym typeface="Audiowid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6" r:id="rId3"/>
    <p:sldLayoutId id="2147483657" r:id="rId4"/>
    <p:sldLayoutId id="2147483658" r:id="rId5"/>
    <p:sldLayoutId id="2147483659" r:id="rId6"/>
    <p:sldLayoutId id="2147483668" r:id="rId7"/>
    <p:sldLayoutId id="2147483669"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a:spLocks noGrp="1"/>
          </p:cNvSpPr>
          <p:nvPr>
            <p:ph type="ctrTitle"/>
          </p:nvPr>
        </p:nvSpPr>
        <p:spPr>
          <a:xfrm>
            <a:off x="705111" y="464625"/>
            <a:ext cx="4297800" cy="283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dk1"/>
                </a:solidFill>
              </a:rPr>
              <a:t>Smart Car : IoT Based Line Following Car</a:t>
            </a:r>
            <a:endParaRPr dirty="0">
              <a:solidFill>
                <a:schemeClr val="dk1"/>
              </a:solidFill>
            </a:endParaRPr>
          </a:p>
        </p:txBody>
      </p:sp>
      <p:pic>
        <p:nvPicPr>
          <p:cNvPr id="149" name="Google Shape;149;p27"/>
          <p:cNvPicPr preferRelativeResize="0"/>
          <p:nvPr/>
        </p:nvPicPr>
        <p:blipFill>
          <a:blip r:embed="rId3">
            <a:alphaModFix/>
          </a:blip>
          <a:stretch>
            <a:fillRect/>
          </a:stretch>
        </p:blipFill>
        <p:spPr>
          <a:xfrm>
            <a:off x="5493825" y="464625"/>
            <a:ext cx="2584525" cy="4214252"/>
          </a:xfrm>
          <a:prstGeom prst="rect">
            <a:avLst/>
          </a:prstGeom>
          <a:noFill/>
          <a:ln>
            <a:noFill/>
          </a:ln>
          <a:effectLst>
            <a:outerShdw blurRad="285750" dist="38100" dir="4680000" algn="bl" rotWithShape="0">
              <a:schemeClr val="lt2">
                <a:alpha val="25000"/>
              </a:scheme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9"/>
          <p:cNvSpPr txBox="1">
            <a:spLocks noGrp="1"/>
          </p:cNvSpPr>
          <p:nvPr>
            <p:ph type="title"/>
          </p:nvPr>
        </p:nvSpPr>
        <p:spPr>
          <a:xfrm>
            <a:off x="133565" y="475499"/>
            <a:ext cx="7704000" cy="572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b="1" u="sng" dirty="0"/>
              <a:t>Presented by </a:t>
            </a:r>
            <a:r>
              <a:rPr lang="en" dirty="0"/>
              <a:t>: -</a:t>
            </a:r>
            <a:endParaRPr dirty="0"/>
          </a:p>
        </p:txBody>
      </p:sp>
      <p:sp>
        <p:nvSpPr>
          <p:cNvPr id="164" name="Google Shape;164;p29"/>
          <p:cNvSpPr txBox="1">
            <a:spLocks noGrp="1"/>
          </p:cNvSpPr>
          <p:nvPr>
            <p:ph type="title" idx="2"/>
          </p:nvPr>
        </p:nvSpPr>
        <p:spPr>
          <a:xfrm>
            <a:off x="183000" y="1194671"/>
            <a:ext cx="9144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sp>
        <p:nvSpPr>
          <p:cNvPr id="165" name="Google Shape;165;p29"/>
          <p:cNvSpPr txBox="1">
            <a:spLocks noGrp="1"/>
          </p:cNvSpPr>
          <p:nvPr>
            <p:ph type="title" idx="3"/>
          </p:nvPr>
        </p:nvSpPr>
        <p:spPr>
          <a:xfrm>
            <a:off x="7437117" y="1059093"/>
            <a:ext cx="9144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sp>
        <p:nvSpPr>
          <p:cNvPr id="166" name="Google Shape;166;p29"/>
          <p:cNvSpPr txBox="1">
            <a:spLocks noGrp="1"/>
          </p:cNvSpPr>
          <p:nvPr>
            <p:ph type="title" idx="4"/>
          </p:nvPr>
        </p:nvSpPr>
        <p:spPr>
          <a:xfrm>
            <a:off x="2328066" y="1174398"/>
            <a:ext cx="9144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sp>
        <p:nvSpPr>
          <p:cNvPr id="168" name="Google Shape;168;p29"/>
          <p:cNvSpPr txBox="1">
            <a:spLocks noGrp="1"/>
          </p:cNvSpPr>
          <p:nvPr>
            <p:ph type="title" idx="6"/>
          </p:nvPr>
        </p:nvSpPr>
        <p:spPr>
          <a:xfrm>
            <a:off x="4918833" y="1126333"/>
            <a:ext cx="9144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
        <p:nvSpPr>
          <p:cNvPr id="169" name="Google Shape;169;p29"/>
          <p:cNvSpPr txBox="1">
            <a:spLocks noGrp="1"/>
          </p:cNvSpPr>
          <p:nvPr>
            <p:ph type="title" idx="7"/>
          </p:nvPr>
        </p:nvSpPr>
        <p:spPr>
          <a:xfrm>
            <a:off x="183000" y="2717159"/>
            <a:ext cx="2987321"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u="sng" dirty="0"/>
              <a:t>Course</a:t>
            </a:r>
            <a:r>
              <a:rPr lang="en-US" dirty="0"/>
              <a:t> : </a:t>
            </a:r>
            <a:endParaRPr dirty="0"/>
          </a:p>
        </p:txBody>
      </p:sp>
      <p:sp>
        <p:nvSpPr>
          <p:cNvPr id="170" name="Google Shape;170;p29"/>
          <p:cNvSpPr txBox="1">
            <a:spLocks noGrp="1"/>
          </p:cNvSpPr>
          <p:nvPr>
            <p:ph type="subTitle" idx="1"/>
          </p:nvPr>
        </p:nvSpPr>
        <p:spPr>
          <a:xfrm>
            <a:off x="122217" y="1928429"/>
            <a:ext cx="25602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Priyanshi Taliyan</a:t>
            </a:r>
            <a:endParaRPr dirty="0"/>
          </a:p>
        </p:txBody>
      </p:sp>
      <p:sp>
        <p:nvSpPr>
          <p:cNvPr id="171" name="Google Shape;171;p29"/>
          <p:cNvSpPr txBox="1">
            <a:spLocks noGrp="1"/>
          </p:cNvSpPr>
          <p:nvPr>
            <p:ph type="subTitle" idx="8"/>
          </p:nvPr>
        </p:nvSpPr>
        <p:spPr>
          <a:xfrm>
            <a:off x="2316717" y="1928429"/>
            <a:ext cx="25602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Priyanshu Chaudhry</a:t>
            </a:r>
            <a:endParaRPr dirty="0"/>
          </a:p>
        </p:txBody>
      </p:sp>
      <p:sp>
        <p:nvSpPr>
          <p:cNvPr id="172" name="Google Shape;172;p29"/>
          <p:cNvSpPr txBox="1">
            <a:spLocks noGrp="1"/>
          </p:cNvSpPr>
          <p:nvPr>
            <p:ph type="subTitle" idx="9"/>
          </p:nvPr>
        </p:nvSpPr>
        <p:spPr>
          <a:xfrm>
            <a:off x="4876917" y="1931110"/>
            <a:ext cx="25602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Priyanshu Jaiswal</a:t>
            </a:r>
            <a:endParaRPr dirty="0"/>
          </a:p>
        </p:txBody>
      </p:sp>
      <p:sp>
        <p:nvSpPr>
          <p:cNvPr id="173" name="Google Shape;173;p29"/>
          <p:cNvSpPr txBox="1">
            <a:spLocks noGrp="1"/>
          </p:cNvSpPr>
          <p:nvPr>
            <p:ph type="subTitle" idx="13"/>
          </p:nvPr>
        </p:nvSpPr>
        <p:spPr>
          <a:xfrm>
            <a:off x="7165277" y="1928429"/>
            <a:ext cx="25602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Priyanshu Singh</a:t>
            </a:r>
            <a:endParaRPr dirty="0"/>
          </a:p>
        </p:txBody>
      </p:sp>
      <p:sp>
        <p:nvSpPr>
          <p:cNvPr id="175" name="Google Shape;175;p29"/>
          <p:cNvSpPr txBox="1">
            <a:spLocks noGrp="1"/>
          </p:cNvSpPr>
          <p:nvPr>
            <p:ph type="subTitle" idx="15"/>
          </p:nvPr>
        </p:nvSpPr>
        <p:spPr>
          <a:xfrm>
            <a:off x="2051555" y="2717159"/>
            <a:ext cx="3395087"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Internet of Things(IoT)</a:t>
            </a:r>
            <a:endParaRPr dirty="0"/>
          </a:p>
        </p:txBody>
      </p:sp>
      <p:sp>
        <p:nvSpPr>
          <p:cNvPr id="10" name="Google Shape;169;p29">
            <a:extLst>
              <a:ext uri="{FF2B5EF4-FFF2-40B4-BE49-F238E27FC236}">
                <a16:creationId xmlns:a16="http://schemas.microsoft.com/office/drawing/2014/main" id="{6E1B7E28-3D1B-88D4-262E-75DADAA28C1F}"/>
              </a:ext>
            </a:extLst>
          </p:cNvPr>
          <p:cNvSpPr txBox="1">
            <a:spLocks/>
          </p:cNvSpPr>
          <p:nvPr/>
        </p:nvSpPr>
        <p:spPr>
          <a:xfrm>
            <a:off x="183000" y="3400129"/>
            <a:ext cx="5263642" cy="548700"/>
          </a:xfrm>
          <a:prstGeom prst="rect">
            <a:avLst/>
          </a:prstGeom>
          <a:noFill/>
          <a:ln>
            <a:noFill/>
          </a:ln>
          <a:effectLst>
            <a:outerShdw blurRad="57150" dist="19050" dir="5400000" algn="bl" rotWithShape="0">
              <a:schemeClr val="accent2">
                <a:alpha val="50000"/>
              </a:schemeClr>
            </a:outerShdw>
          </a:effectLst>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1pPr>
            <a:lvl2pPr marR="0" lvl="1"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2pPr>
            <a:lvl3pPr marR="0" lvl="2"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3pPr>
            <a:lvl4pPr marR="0" lvl="3"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4pPr>
            <a:lvl5pPr marR="0" lvl="4"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5pPr>
            <a:lvl6pPr marR="0" lvl="5"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6pPr>
            <a:lvl7pPr marR="0" lvl="6"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7pPr>
            <a:lvl8pPr marR="0" lvl="7"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8pPr>
            <a:lvl9pPr marR="0" lvl="8"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9pPr>
          </a:lstStyle>
          <a:p>
            <a:r>
              <a:rPr lang="en-US" u="sng" dirty="0"/>
              <a:t>Project Description </a:t>
            </a:r>
            <a:r>
              <a:rPr lang="en-US" dirty="0"/>
              <a:t>: </a:t>
            </a:r>
          </a:p>
        </p:txBody>
      </p:sp>
      <p:sp>
        <p:nvSpPr>
          <p:cNvPr id="11" name="Google Shape;175;p29">
            <a:extLst>
              <a:ext uri="{FF2B5EF4-FFF2-40B4-BE49-F238E27FC236}">
                <a16:creationId xmlns:a16="http://schemas.microsoft.com/office/drawing/2014/main" id="{805C8103-2B01-BA18-E706-4A675C0D4D15}"/>
              </a:ext>
            </a:extLst>
          </p:cNvPr>
          <p:cNvSpPr txBox="1">
            <a:spLocks/>
          </p:cNvSpPr>
          <p:nvPr/>
        </p:nvSpPr>
        <p:spPr>
          <a:xfrm>
            <a:off x="183000" y="3945998"/>
            <a:ext cx="8778000" cy="11975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9pPr>
          </a:lstStyle>
          <a:p>
            <a:pPr marL="0" indent="0"/>
            <a:r>
              <a:rPr lang="en-US" dirty="0"/>
              <a:t>T</a:t>
            </a:r>
            <a:r>
              <a:rPr lang="en-IN" dirty="0"/>
              <a:t>his project demonstrates the design and implementation of an autonomous robotic vehicle that can detect and follow a predefined path using infrared sensors, a microcontroller, and a motor driver.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3F57DEB0-E214-CE5C-EE54-AC1D5F606CB4}"/>
            </a:ext>
          </a:extLst>
        </p:cNvPr>
        <p:cNvGrpSpPr/>
        <p:nvPr/>
      </p:nvGrpSpPr>
      <p:grpSpPr>
        <a:xfrm>
          <a:off x="0" y="0"/>
          <a:ext cx="0" cy="0"/>
          <a:chOff x="0" y="0"/>
          <a:chExt cx="0" cy="0"/>
        </a:xfrm>
      </p:grpSpPr>
      <p:sp>
        <p:nvSpPr>
          <p:cNvPr id="26" name="Google Shape;163;p29">
            <a:extLst>
              <a:ext uri="{FF2B5EF4-FFF2-40B4-BE49-F238E27FC236}">
                <a16:creationId xmlns:a16="http://schemas.microsoft.com/office/drawing/2014/main" id="{6A2954C0-D095-6ACE-D9BB-B0546AFF2623}"/>
              </a:ext>
            </a:extLst>
          </p:cNvPr>
          <p:cNvSpPr txBox="1">
            <a:spLocks noGrp="1"/>
          </p:cNvSpPr>
          <p:nvPr>
            <p:ph type="title"/>
          </p:nvPr>
        </p:nvSpPr>
        <p:spPr>
          <a:xfrm>
            <a:off x="133565" y="475499"/>
            <a:ext cx="4657096" cy="572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b="1" u="sng" dirty="0"/>
              <a:t>Problem Statement</a:t>
            </a:r>
            <a:endParaRPr u="sng" dirty="0"/>
          </a:p>
        </p:txBody>
      </p:sp>
      <p:sp>
        <p:nvSpPr>
          <p:cNvPr id="27" name="Google Shape;170;p29">
            <a:extLst>
              <a:ext uri="{FF2B5EF4-FFF2-40B4-BE49-F238E27FC236}">
                <a16:creationId xmlns:a16="http://schemas.microsoft.com/office/drawing/2014/main" id="{7F61ADAD-BB74-B820-9B94-4EA17683A8A9}"/>
              </a:ext>
            </a:extLst>
          </p:cNvPr>
          <p:cNvSpPr txBox="1">
            <a:spLocks noGrp="1"/>
          </p:cNvSpPr>
          <p:nvPr>
            <p:ph type="subTitle" idx="1"/>
          </p:nvPr>
        </p:nvSpPr>
        <p:spPr>
          <a:xfrm>
            <a:off x="122217" y="1232452"/>
            <a:ext cx="5105766" cy="37768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 many places, transporting humas or goods from one location to another requires manual labor, which increases operational cost and the possibility of human error. An automated system is required that can follow a fixed path and move humans or goods efficiently without human intervention.</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The line following robot addresses this problem by automatically detecting and following a predefined path using sensors and a microcontroller.</a:t>
            </a:r>
          </a:p>
        </p:txBody>
      </p:sp>
      <p:pic>
        <p:nvPicPr>
          <p:cNvPr id="28" name="Picture 27">
            <a:extLst>
              <a:ext uri="{FF2B5EF4-FFF2-40B4-BE49-F238E27FC236}">
                <a16:creationId xmlns:a16="http://schemas.microsoft.com/office/drawing/2014/main" id="{F4A4E596-46EE-02A4-1F83-ECA2AAB5E238}"/>
              </a:ext>
            </a:extLst>
          </p:cNvPr>
          <p:cNvPicPr>
            <a:picLocks noChangeAspect="1"/>
          </p:cNvPicPr>
          <p:nvPr/>
        </p:nvPicPr>
        <p:blipFill>
          <a:blip r:embed="rId3"/>
          <a:stretch>
            <a:fillRect/>
          </a:stretch>
        </p:blipFill>
        <p:spPr>
          <a:xfrm>
            <a:off x="4559411" y="862060"/>
            <a:ext cx="4584589" cy="3657917"/>
          </a:xfrm>
          <a:prstGeom prst="rect">
            <a:avLst/>
          </a:prstGeom>
        </p:spPr>
      </p:pic>
    </p:spTree>
    <p:extLst>
      <p:ext uri="{BB962C8B-B14F-4D97-AF65-F5344CB8AC3E}">
        <p14:creationId xmlns:p14="http://schemas.microsoft.com/office/powerpoint/2010/main" val="700489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AD063ABB-6562-07DF-57E4-424E1BCFE284}"/>
            </a:ext>
          </a:extLst>
        </p:cNvPr>
        <p:cNvGrpSpPr/>
        <p:nvPr/>
      </p:nvGrpSpPr>
      <p:grpSpPr>
        <a:xfrm>
          <a:off x="0" y="0"/>
          <a:ext cx="0" cy="0"/>
          <a:chOff x="0" y="0"/>
          <a:chExt cx="0" cy="0"/>
        </a:xfrm>
      </p:grpSpPr>
      <p:sp>
        <p:nvSpPr>
          <p:cNvPr id="26" name="Google Shape;163;p29">
            <a:extLst>
              <a:ext uri="{FF2B5EF4-FFF2-40B4-BE49-F238E27FC236}">
                <a16:creationId xmlns:a16="http://schemas.microsoft.com/office/drawing/2014/main" id="{4DCCBF2B-3EA3-908B-F492-E4249004A286}"/>
              </a:ext>
            </a:extLst>
          </p:cNvPr>
          <p:cNvSpPr txBox="1">
            <a:spLocks noGrp="1"/>
          </p:cNvSpPr>
          <p:nvPr>
            <p:ph type="title"/>
          </p:nvPr>
        </p:nvSpPr>
        <p:spPr>
          <a:xfrm>
            <a:off x="133565" y="475499"/>
            <a:ext cx="4657096" cy="572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b="1" u="sng" dirty="0"/>
              <a:t>Application Areas :</a:t>
            </a:r>
            <a:endParaRPr u="sng" dirty="0"/>
          </a:p>
        </p:txBody>
      </p:sp>
      <p:sp>
        <p:nvSpPr>
          <p:cNvPr id="27" name="Google Shape;170;p29">
            <a:extLst>
              <a:ext uri="{FF2B5EF4-FFF2-40B4-BE49-F238E27FC236}">
                <a16:creationId xmlns:a16="http://schemas.microsoft.com/office/drawing/2014/main" id="{C2EC5C31-ACED-5814-0B18-7D530E77DADE}"/>
              </a:ext>
            </a:extLst>
          </p:cNvPr>
          <p:cNvSpPr txBox="1">
            <a:spLocks noGrp="1"/>
          </p:cNvSpPr>
          <p:nvPr>
            <p:ph type="subTitle" idx="1"/>
          </p:nvPr>
        </p:nvSpPr>
        <p:spPr>
          <a:xfrm>
            <a:off x="122217" y="1232452"/>
            <a:ext cx="5105766" cy="377687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 dirty="0"/>
              <a:t>Industrial automation systems</a:t>
            </a:r>
          </a:p>
          <a:p>
            <a:pPr marL="285750" lvl="0" indent="-285750" algn="l" rtl="0">
              <a:spcBef>
                <a:spcPts val="0"/>
              </a:spcBef>
              <a:spcAft>
                <a:spcPts val="0"/>
              </a:spcAft>
              <a:buFont typeface="Arial" panose="020B0604020202020204" pitchFamily="34" charset="0"/>
              <a:buChar char="•"/>
            </a:pPr>
            <a:endParaRPr lang="en" dirty="0"/>
          </a:p>
          <a:p>
            <a:pPr marL="285750" lvl="0" indent="-285750" algn="l" rtl="0">
              <a:spcBef>
                <a:spcPts val="0"/>
              </a:spcBef>
              <a:spcAft>
                <a:spcPts val="0"/>
              </a:spcAft>
              <a:buFont typeface="Arial" panose="020B0604020202020204" pitchFamily="34" charset="0"/>
              <a:buChar char="•"/>
            </a:pPr>
            <a:r>
              <a:rPr lang="en" dirty="0"/>
              <a:t>Warehouse transporation robots</a:t>
            </a:r>
          </a:p>
          <a:p>
            <a:pPr marL="285750" lvl="0" indent="-285750" algn="l" rtl="0">
              <a:spcBef>
                <a:spcPts val="0"/>
              </a:spcBef>
              <a:spcAft>
                <a:spcPts val="0"/>
              </a:spcAft>
              <a:buFont typeface="Arial" panose="020B0604020202020204" pitchFamily="34" charset="0"/>
              <a:buChar char="•"/>
            </a:pPr>
            <a:endParaRPr lang="en" dirty="0"/>
          </a:p>
          <a:p>
            <a:pPr marL="285750" lvl="0" indent="-285750" algn="l" rtl="0">
              <a:spcBef>
                <a:spcPts val="0"/>
              </a:spcBef>
              <a:spcAft>
                <a:spcPts val="0"/>
              </a:spcAft>
              <a:buFont typeface="Arial" panose="020B0604020202020204" pitchFamily="34" charset="0"/>
              <a:buChar char="•"/>
            </a:pPr>
            <a:r>
              <a:rPr lang="en" dirty="0"/>
              <a:t>Automated Guided Vehicles (AGV)</a:t>
            </a:r>
          </a:p>
          <a:p>
            <a:pPr marL="285750" lvl="0" indent="-285750" algn="l" rtl="0">
              <a:spcBef>
                <a:spcPts val="0"/>
              </a:spcBef>
              <a:spcAft>
                <a:spcPts val="0"/>
              </a:spcAft>
              <a:buFont typeface="Arial" panose="020B0604020202020204" pitchFamily="34" charset="0"/>
              <a:buChar char="•"/>
            </a:pPr>
            <a:endParaRPr lang="en" dirty="0"/>
          </a:p>
          <a:p>
            <a:pPr marL="285750" lvl="0" indent="-285750" algn="l" rtl="0">
              <a:spcBef>
                <a:spcPts val="0"/>
              </a:spcBef>
              <a:spcAft>
                <a:spcPts val="0"/>
              </a:spcAft>
              <a:buFont typeface="Arial" panose="020B0604020202020204" pitchFamily="34" charset="0"/>
              <a:buChar char="•"/>
            </a:pPr>
            <a:r>
              <a:rPr lang="en" dirty="0"/>
              <a:t>Hospital delivery robots</a:t>
            </a:r>
          </a:p>
          <a:p>
            <a:pPr marL="285750" lvl="0" indent="-285750" algn="l" rtl="0">
              <a:spcBef>
                <a:spcPts val="0"/>
              </a:spcBef>
              <a:spcAft>
                <a:spcPts val="0"/>
              </a:spcAft>
              <a:buFont typeface="Arial" panose="020B0604020202020204" pitchFamily="34" charset="0"/>
              <a:buChar char="•"/>
            </a:pPr>
            <a:endParaRPr lang="en" dirty="0"/>
          </a:p>
          <a:p>
            <a:pPr marL="285750" lvl="0" indent="-285750" algn="l" rtl="0">
              <a:spcBef>
                <a:spcPts val="0"/>
              </a:spcBef>
              <a:spcAft>
                <a:spcPts val="0"/>
              </a:spcAft>
              <a:buFont typeface="Arial" panose="020B0604020202020204" pitchFamily="34" charset="0"/>
              <a:buChar char="•"/>
            </a:pPr>
            <a:r>
              <a:rPr lang="en" dirty="0"/>
              <a:t>Airport baggage handling systems</a:t>
            </a:r>
          </a:p>
          <a:p>
            <a:pPr marL="285750" lvl="0" indent="-285750" algn="l" rtl="0">
              <a:spcBef>
                <a:spcPts val="0"/>
              </a:spcBef>
              <a:spcAft>
                <a:spcPts val="0"/>
              </a:spcAft>
              <a:buFont typeface="Arial" panose="020B0604020202020204" pitchFamily="34" charset="0"/>
              <a:buChar char="•"/>
            </a:pPr>
            <a:endParaRPr lang="en" dirty="0"/>
          </a:p>
          <a:p>
            <a:pPr marL="285750" lvl="0" indent="-285750" algn="l" rtl="0">
              <a:spcBef>
                <a:spcPts val="0"/>
              </a:spcBef>
              <a:spcAft>
                <a:spcPts val="0"/>
              </a:spcAft>
              <a:buFont typeface="Arial" panose="020B0604020202020204" pitchFamily="34" charset="0"/>
              <a:buChar char="•"/>
            </a:pPr>
            <a:r>
              <a:rPr lang="en" dirty="0"/>
              <a:t>Educational robotics and automation learning</a:t>
            </a:r>
          </a:p>
        </p:txBody>
      </p:sp>
      <p:pic>
        <p:nvPicPr>
          <p:cNvPr id="182" name="Google Shape;182;p30"/>
          <p:cNvPicPr preferRelativeResize="0"/>
          <p:nvPr/>
        </p:nvPicPr>
        <p:blipFill rotWithShape="1">
          <a:blip r:embed="rId3">
            <a:alphaModFix/>
          </a:blip>
          <a:srcRect t="426" b="426"/>
          <a:stretch/>
        </p:blipFill>
        <p:spPr>
          <a:xfrm>
            <a:off x="5012484" y="1048199"/>
            <a:ext cx="4009299" cy="3086301"/>
          </a:xfrm>
          <a:prstGeom prst="rect">
            <a:avLst/>
          </a:prstGeom>
          <a:noFill/>
          <a:ln>
            <a:noFill/>
          </a:ln>
          <a:effectLst>
            <a:outerShdw blurRad="285750" dist="38100" dir="4680000" algn="bl" rotWithShape="0">
              <a:schemeClr val="lt2">
                <a:alpha val="25000"/>
              </a:schemeClr>
            </a:outerShdw>
          </a:effectLst>
        </p:spPr>
      </p:pic>
    </p:spTree>
    <p:extLst>
      <p:ext uri="{BB962C8B-B14F-4D97-AF65-F5344CB8AC3E}">
        <p14:creationId xmlns:p14="http://schemas.microsoft.com/office/powerpoint/2010/main" val="3217772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AC476937-844A-6400-AA2C-960C38D2C0D5}"/>
            </a:ext>
          </a:extLst>
        </p:cNvPr>
        <p:cNvGrpSpPr/>
        <p:nvPr/>
      </p:nvGrpSpPr>
      <p:grpSpPr>
        <a:xfrm>
          <a:off x="0" y="0"/>
          <a:ext cx="0" cy="0"/>
          <a:chOff x="0" y="0"/>
          <a:chExt cx="0" cy="0"/>
        </a:xfrm>
      </p:grpSpPr>
      <p:sp>
        <p:nvSpPr>
          <p:cNvPr id="26" name="Google Shape;163;p29">
            <a:extLst>
              <a:ext uri="{FF2B5EF4-FFF2-40B4-BE49-F238E27FC236}">
                <a16:creationId xmlns:a16="http://schemas.microsoft.com/office/drawing/2014/main" id="{7BA50CD8-319D-2EB0-3147-453D25D9EC2C}"/>
              </a:ext>
            </a:extLst>
          </p:cNvPr>
          <p:cNvSpPr txBox="1">
            <a:spLocks noGrp="1"/>
          </p:cNvSpPr>
          <p:nvPr>
            <p:ph type="title"/>
          </p:nvPr>
        </p:nvSpPr>
        <p:spPr>
          <a:xfrm>
            <a:off x="133564" y="475499"/>
            <a:ext cx="6724435" cy="572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b="1" u="sng" dirty="0"/>
              <a:t>Circuit Diagram (TinkerCAD) :</a:t>
            </a:r>
            <a:endParaRPr u="sng" dirty="0"/>
          </a:p>
        </p:txBody>
      </p:sp>
      <p:pic>
        <p:nvPicPr>
          <p:cNvPr id="3" name="Picture 2">
            <a:extLst>
              <a:ext uri="{FF2B5EF4-FFF2-40B4-BE49-F238E27FC236}">
                <a16:creationId xmlns:a16="http://schemas.microsoft.com/office/drawing/2014/main" id="{9B9E4A03-C342-E4A4-021E-2A554791D370}"/>
              </a:ext>
            </a:extLst>
          </p:cNvPr>
          <p:cNvPicPr>
            <a:picLocks noChangeAspect="1"/>
          </p:cNvPicPr>
          <p:nvPr/>
        </p:nvPicPr>
        <p:blipFill>
          <a:blip r:embed="rId3"/>
          <a:stretch>
            <a:fillRect/>
          </a:stretch>
        </p:blipFill>
        <p:spPr>
          <a:xfrm>
            <a:off x="228600" y="1048199"/>
            <a:ext cx="8666922" cy="4008377"/>
          </a:xfrm>
          <a:prstGeom prst="rect">
            <a:avLst/>
          </a:prstGeom>
        </p:spPr>
      </p:pic>
    </p:spTree>
    <p:extLst>
      <p:ext uri="{BB962C8B-B14F-4D97-AF65-F5344CB8AC3E}">
        <p14:creationId xmlns:p14="http://schemas.microsoft.com/office/powerpoint/2010/main" val="3602889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CB40009B-66C4-FC2D-F9B7-CFBC380FF9CC}"/>
            </a:ext>
          </a:extLst>
        </p:cNvPr>
        <p:cNvGrpSpPr/>
        <p:nvPr/>
      </p:nvGrpSpPr>
      <p:grpSpPr>
        <a:xfrm>
          <a:off x="0" y="0"/>
          <a:ext cx="0" cy="0"/>
          <a:chOff x="0" y="0"/>
          <a:chExt cx="0" cy="0"/>
        </a:xfrm>
      </p:grpSpPr>
      <p:sp>
        <p:nvSpPr>
          <p:cNvPr id="26" name="Google Shape;163;p29">
            <a:extLst>
              <a:ext uri="{FF2B5EF4-FFF2-40B4-BE49-F238E27FC236}">
                <a16:creationId xmlns:a16="http://schemas.microsoft.com/office/drawing/2014/main" id="{7835EE54-84F6-AD88-C88E-55D9EBA13237}"/>
              </a:ext>
            </a:extLst>
          </p:cNvPr>
          <p:cNvSpPr txBox="1">
            <a:spLocks noGrp="1"/>
          </p:cNvSpPr>
          <p:nvPr>
            <p:ph type="title"/>
          </p:nvPr>
        </p:nvSpPr>
        <p:spPr>
          <a:xfrm>
            <a:off x="133565" y="475499"/>
            <a:ext cx="4657096" cy="572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b="1" u="sng" dirty="0"/>
              <a:t>Working Principle</a:t>
            </a:r>
            <a:endParaRPr u="sng" dirty="0"/>
          </a:p>
        </p:txBody>
      </p:sp>
      <p:sp>
        <p:nvSpPr>
          <p:cNvPr id="27" name="Google Shape;170;p29">
            <a:extLst>
              <a:ext uri="{FF2B5EF4-FFF2-40B4-BE49-F238E27FC236}">
                <a16:creationId xmlns:a16="http://schemas.microsoft.com/office/drawing/2014/main" id="{DF5A2102-7938-3FFA-D0D2-5F1E5997DAE8}"/>
              </a:ext>
            </a:extLst>
          </p:cNvPr>
          <p:cNvSpPr txBox="1">
            <a:spLocks noGrp="1"/>
          </p:cNvSpPr>
          <p:nvPr>
            <p:ph type="subTitle" idx="1"/>
          </p:nvPr>
        </p:nvSpPr>
        <p:spPr>
          <a:xfrm>
            <a:off x="122217" y="1232452"/>
            <a:ext cx="8852818" cy="37768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line following robot works based on infrared light reflection.</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The IR sensors emit infrared light toward the surface.</a:t>
            </a:r>
          </a:p>
          <a:p>
            <a:pPr marL="0" lvl="0" indent="0" algn="l" rtl="0">
              <a:spcBef>
                <a:spcPts val="0"/>
              </a:spcBef>
              <a:spcAft>
                <a:spcPts val="0"/>
              </a:spcAft>
              <a:buNone/>
            </a:pPr>
            <a:r>
              <a:rPr lang="en" dirty="0"/>
              <a:t>White surfaces reflect more light while black surfaces absorb light.</a:t>
            </a:r>
          </a:p>
          <a:p>
            <a:pPr marL="0" lvl="0" indent="0" algn="l" rtl="0">
              <a:spcBef>
                <a:spcPts val="0"/>
              </a:spcBef>
              <a:spcAft>
                <a:spcPts val="0"/>
              </a:spcAft>
              <a:buNone/>
            </a:pPr>
            <a:endParaRPr lang="en" dirty="0"/>
          </a:p>
          <a:p>
            <a:pPr marL="0" lvl="0" indent="0" algn="l" rtl="0">
              <a:spcBef>
                <a:spcPts val="0"/>
              </a:spcBef>
              <a:spcAft>
                <a:spcPts val="0"/>
              </a:spcAft>
              <a:buNone/>
            </a:pPr>
            <a:r>
              <a:rPr lang="en" u="sng" dirty="0"/>
              <a:t>Sensor Output</a:t>
            </a:r>
            <a:r>
              <a:rPr lang="en" dirty="0"/>
              <a:t> :</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White surface -&gt; HIGH</a:t>
            </a:r>
          </a:p>
          <a:p>
            <a:pPr marL="0" lvl="0" indent="0" algn="l" rtl="0">
              <a:spcBef>
                <a:spcPts val="0"/>
              </a:spcBef>
              <a:spcAft>
                <a:spcPts val="0"/>
              </a:spcAft>
              <a:buNone/>
            </a:pPr>
            <a:r>
              <a:rPr lang="en" dirty="0"/>
              <a:t>Black line -&gt; LOW</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The sensors send signals to the Aurdino microcontroller.</a:t>
            </a:r>
          </a:p>
          <a:p>
            <a:pPr marL="0" lvl="0" indent="0" algn="l" rtl="0">
              <a:spcBef>
                <a:spcPts val="0"/>
              </a:spcBef>
              <a:spcAft>
                <a:spcPts val="0"/>
              </a:spcAft>
              <a:buNone/>
            </a:pPr>
            <a:r>
              <a:rPr lang="en" dirty="0"/>
              <a:t>Aurdino processes these signals and send commands to the motor driver, which controls the motors and adjust the direction of the robot.</a:t>
            </a:r>
          </a:p>
        </p:txBody>
      </p:sp>
    </p:spTree>
    <p:extLst>
      <p:ext uri="{BB962C8B-B14F-4D97-AF65-F5344CB8AC3E}">
        <p14:creationId xmlns:p14="http://schemas.microsoft.com/office/powerpoint/2010/main" val="1500228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9F7E598F-CD95-6F73-F093-BF22FA5901F7}"/>
            </a:ext>
          </a:extLst>
        </p:cNvPr>
        <p:cNvGrpSpPr/>
        <p:nvPr/>
      </p:nvGrpSpPr>
      <p:grpSpPr>
        <a:xfrm>
          <a:off x="0" y="0"/>
          <a:ext cx="0" cy="0"/>
          <a:chOff x="0" y="0"/>
          <a:chExt cx="0" cy="0"/>
        </a:xfrm>
      </p:grpSpPr>
      <p:sp>
        <p:nvSpPr>
          <p:cNvPr id="163" name="Google Shape;163;p29">
            <a:extLst>
              <a:ext uri="{FF2B5EF4-FFF2-40B4-BE49-F238E27FC236}">
                <a16:creationId xmlns:a16="http://schemas.microsoft.com/office/drawing/2014/main" id="{0625E1E0-7357-8E73-340B-23013649FCBC}"/>
              </a:ext>
            </a:extLst>
          </p:cNvPr>
          <p:cNvSpPr txBox="1">
            <a:spLocks noGrp="1"/>
          </p:cNvSpPr>
          <p:nvPr>
            <p:ph type="title"/>
          </p:nvPr>
        </p:nvSpPr>
        <p:spPr>
          <a:xfrm>
            <a:off x="133565" y="475499"/>
            <a:ext cx="7704000" cy="572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b="1" u="sng" dirty="0"/>
              <a:t>Logic Used </a:t>
            </a:r>
            <a:r>
              <a:rPr lang="en" dirty="0"/>
              <a:t>: -</a:t>
            </a:r>
            <a:endParaRPr dirty="0"/>
          </a:p>
        </p:txBody>
      </p:sp>
      <p:sp>
        <p:nvSpPr>
          <p:cNvPr id="164" name="Google Shape;164;p29">
            <a:extLst>
              <a:ext uri="{FF2B5EF4-FFF2-40B4-BE49-F238E27FC236}">
                <a16:creationId xmlns:a16="http://schemas.microsoft.com/office/drawing/2014/main" id="{2819A70B-1763-9491-D54D-397C63202D48}"/>
              </a:ext>
            </a:extLst>
          </p:cNvPr>
          <p:cNvSpPr txBox="1">
            <a:spLocks noGrp="1"/>
          </p:cNvSpPr>
          <p:nvPr>
            <p:ph type="title" idx="2"/>
          </p:nvPr>
        </p:nvSpPr>
        <p:spPr>
          <a:xfrm>
            <a:off x="183000" y="1194671"/>
            <a:ext cx="2947826"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Left Sensor</a:t>
            </a:r>
            <a:endParaRPr sz="2400" dirty="0"/>
          </a:p>
        </p:txBody>
      </p:sp>
      <p:sp>
        <p:nvSpPr>
          <p:cNvPr id="166" name="Google Shape;166;p29">
            <a:extLst>
              <a:ext uri="{FF2B5EF4-FFF2-40B4-BE49-F238E27FC236}">
                <a16:creationId xmlns:a16="http://schemas.microsoft.com/office/drawing/2014/main" id="{A0659505-455C-C3A0-72C0-F836F39988F6}"/>
              </a:ext>
            </a:extLst>
          </p:cNvPr>
          <p:cNvSpPr txBox="1">
            <a:spLocks noGrp="1"/>
          </p:cNvSpPr>
          <p:nvPr>
            <p:ph type="title" idx="4"/>
          </p:nvPr>
        </p:nvSpPr>
        <p:spPr>
          <a:xfrm>
            <a:off x="3074362" y="1121435"/>
            <a:ext cx="3387221"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Right Sensor</a:t>
            </a:r>
            <a:endParaRPr sz="2400" dirty="0"/>
          </a:p>
        </p:txBody>
      </p:sp>
      <p:sp>
        <p:nvSpPr>
          <p:cNvPr id="168" name="Google Shape;168;p29">
            <a:extLst>
              <a:ext uri="{FF2B5EF4-FFF2-40B4-BE49-F238E27FC236}">
                <a16:creationId xmlns:a16="http://schemas.microsoft.com/office/drawing/2014/main" id="{68286FDC-CCC4-300F-0FE7-326E9CC2E287}"/>
              </a:ext>
            </a:extLst>
          </p:cNvPr>
          <p:cNvSpPr txBox="1">
            <a:spLocks noGrp="1"/>
          </p:cNvSpPr>
          <p:nvPr>
            <p:ph type="title" idx="6"/>
          </p:nvPr>
        </p:nvSpPr>
        <p:spPr>
          <a:xfrm>
            <a:off x="6461583" y="1048199"/>
            <a:ext cx="25602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Robot Action</a:t>
            </a:r>
            <a:endParaRPr sz="2400" dirty="0"/>
          </a:p>
        </p:txBody>
      </p:sp>
      <p:sp>
        <p:nvSpPr>
          <p:cNvPr id="170" name="Google Shape;170;p29">
            <a:extLst>
              <a:ext uri="{FF2B5EF4-FFF2-40B4-BE49-F238E27FC236}">
                <a16:creationId xmlns:a16="http://schemas.microsoft.com/office/drawing/2014/main" id="{2246F4F6-381F-50CF-4D5D-4D7C709F331B}"/>
              </a:ext>
            </a:extLst>
          </p:cNvPr>
          <p:cNvSpPr txBox="1">
            <a:spLocks noGrp="1"/>
          </p:cNvSpPr>
          <p:nvPr>
            <p:ph type="subTitle" idx="1"/>
          </p:nvPr>
        </p:nvSpPr>
        <p:spPr>
          <a:xfrm>
            <a:off x="122217" y="1928429"/>
            <a:ext cx="25602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LOW</a:t>
            </a:r>
            <a:endParaRPr dirty="0"/>
          </a:p>
        </p:txBody>
      </p:sp>
      <p:sp>
        <p:nvSpPr>
          <p:cNvPr id="171" name="Google Shape;171;p29">
            <a:extLst>
              <a:ext uri="{FF2B5EF4-FFF2-40B4-BE49-F238E27FC236}">
                <a16:creationId xmlns:a16="http://schemas.microsoft.com/office/drawing/2014/main" id="{71AE5674-FF00-ADFD-E1D5-0B87A3E5C072}"/>
              </a:ext>
            </a:extLst>
          </p:cNvPr>
          <p:cNvSpPr txBox="1">
            <a:spLocks noGrp="1"/>
          </p:cNvSpPr>
          <p:nvPr>
            <p:ph type="subTitle" idx="8"/>
          </p:nvPr>
        </p:nvSpPr>
        <p:spPr>
          <a:xfrm>
            <a:off x="2984910" y="1869601"/>
            <a:ext cx="25602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LOW</a:t>
            </a:r>
            <a:endParaRPr dirty="0"/>
          </a:p>
        </p:txBody>
      </p:sp>
      <p:sp>
        <p:nvSpPr>
          <p:cNvPr id="172" name="Google Shape;172;p29">
            <a:extLst>
              <a:ext uri="{FF2B5EF4-FFF2-40B4-BE49-F238E27FC236}">
                <a16:creationId xmlns:a16="http://schemas.microsoft.com/office/drawing/2014/main" id="{5529A40D-6307-C715-8671-A4EFBBED92D3}"/>
              </a:ext>
            </a:extLst>
          </p:cNvPr>
          <p:cNvSpPr txBox="1">
            <a:spLocks noGrp="1"/>
          </p:cNvSpPr>
          <p:nvPr>
            <p:ph type="subTitle" idx="9"/>
          </p:nvPr>
        </p:nvSpPr>
        <p:spPr>
          <a:xfrm>
            <a:off x="6400802" y="1883563"/>
            <a:ext cx="25602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Move Forward</a:t>
            </a:r>
            <a:endParaRPr dirty="0"/>
          </a:p>
        </p:txBody>
      </p:sp>
      <p:sp>
        <p:nvSpPr>
          <p:cNvPr id="6" name="Google Shape;170;p29">
            <a:extLst>
              <a:ext uri="{FF2B5EF4-FFF2-40B4-BE49-F238E27FC236}">
                <a16:creationId xmlns:a16="http://schemas.microsoft.com/office/drawing/2014/main" id="{6D83D990-5C1E-1119-605B-A9380F5C1CB4}"/>
              </a:ext>
            </a:extLst>
          </p:cNvPr>
          <p:cNvSpPr txBox="1">
            <a:spLocks/>
          </p:cNvSpPr>
          <p:nvPr/>
        </p:nvSpPr>
        <p:spPr>
          <a:xfrm>
            <a:off x="122217" y="2529272"/>
            <a:ext cx="2560200" cy="45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9pPr>
          </a:lstStyle>
          <a:p>
            <a:pPr marL="0" indent="0"/>
            <a:r>
              <a:rPr lang="en-US" dirty="0"/>
              <a:t>L</a:t>
            </a:r>
            <a:r>
              <a:rPr lang="en-IN" dirty="0"/>
              <a:t>OW</a:t>
            </a:r>
          </a:p>
        </p:txBody>
      </p:sp>
      <p:sp>
        <p:nvSpPr>
          <p:cNvPr id="7" name="Google Shape;170;p29">
            <a:extLst>
              <a:ext uri="{FF2B5EF4-FFF2-40B4-BE49-F238E27FC236}">
                <a16:creationId xmlns:a16="http://schemas.microsoft.com/office/drawing/2014/main" id="{0C0A7576-2B8C-9EB8-F86B-DB9D6A43B2C3}"/>
              </a:ext>
            </a:extLst>
          </p:cNvPr>
          <p:cNvSpPr txBox="1">
            <a:spLocks/>
          </p:cNvSpPr>
          <p:nvPr/>
        </p:nvSpPr>
        <p:spPr>
          <a:xfrm>
            <a:off x="133565" y="3130115"/>
            <a:ext cx="2560200" cy="45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9pPr>
          </a:lstStyle>
          <a:p>
            <a:pPr marL="0" indent="0"/>
            <a:r>
              <a:rPr lang="en-US" dirty="0"/>
              <a:t>H</a:t>
            </a:r>
            <a:r>
              <a:rPr lang="en-IN" dirty="0"/>
              <a:t>IGH</a:t>
            </a:r>
          </a:p>
        </p:txBody>
      </p:sp>
      <p:sp>
        <p:nvSpPr>
          <p:cNvPr id="9" name="Google Shape;170;p29">
            <a:extLst>
              <a:ext uri="{FF2B5EF4-FFF2-40B4-BE49-F238E27FC236}">
                <a16:creationId xmlns:a16="http://schemas.microsoft.com/office/drawing/2014/main" id="{83B31CA7-3595-BA91-806A-DBAE41BCCB3D}"/>
              </a:ext>
            </a:extLst>
          </p:cNvPr>
          <p:cNvSpPr txBox="1">
            <a:spLocks/>
          </p:cNvSpPr>
          <p:nvPr/>
        </p:nvSpPr>
        <p:spPr>
          <a:xfrm>
            <a:off x="183000" y="3720229"/>
            <a:ext cx="2560200" cy="45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9pPr>
          </a:lstStyle>
          <a:p>
            <a:pPr marL="0" indent="0"/>
            <a:r>
              <a:rPr lang="en-US" dirty="0"/>
              <a:t>H</a:t>
            </a:r>
            <a:r>
              <a:rPr lang="en-IN" dirty="0"/>
              <a:t>IGH</a:t>
            </a:r>
          </a:p>
        </p:txBody>
      </p:sp>
      <p:sp>
        <p:nvSpPr>
          <p:cNvPr id="12" name="Google Shape;171;p29">
            <a:extLst>
              <a:ext uri="{FF2B5EF4-FFF2-40B4-BE49-F238E27FC236}">
                <a16:creationId xmlns:a16="http://schemas.microsoft.com/office/drawing/2014/main" id="{2200CBB9-796C-6B01-4465-E3BFF2FEF459}"/>
              </a:ext>
            </a:extLst>
          </p:cNvPr>
          <p:cNvSpPr txBox="1">
            <a:spLocks/>
          </p:cNvSpPr>
          <p:nvPr/>
        </p:nvSpPr>
        <p:spPr>
          <a:xfrm>
            <a:off x="2984910" y="2491537"/>
            <a:ext cx="2560200" cy="45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9pPr>
          </a:lstStyle>
          <a:p>
            <a:pPr marL="0" indent="0" algn="ctr"/>
            <a:r>
              <a:rPr lang="en-US" dirty="0"/>
              <a:t>HIGH</a:t>
            </a:r>
            <a:endParaRPr lang="en-IN" dirty="0"/>
          </a:p>
        </p:txBody>
      </p:sp>
      <p:sp>
        <p:nvSpPr>
          <p:cNvPr id="13" name="Google Shape;171;p29">
            <a:extLst>
              <a:ext uri="{FF2B5EF4-FFF2-40B4-BE49-F238E27FC236}">
                <a16:creationId xmlns:a16="http://schemas.microsoft.com/office/drawing/2014/main" id="{9682613A-E20E-AB43-C3FF-6A32136D6CE6}"/>
              </a:ext>
            </a:extLst>
          </p:cNvPr>
          <p:cNvSpPr txBox="1">
            <a:spLocks/>
          </p:cNvSpPr>
          <p:nvPr/>
        </p:nvSpPr>
        <p:spPr>
          <a:xfrm>
            <a:off x="2984910" y="3152274"/>
            <a:ext cx="2560200" cy="45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9pPr>
          </a:lstStyle>
          <a:p>
            <a:pPr marL="0" indent="0" algn="ctr"/>
            <a:r>
              <a:rPr lang="en-US" dirty="0"/>
              <a:t>LOW</a:t>
            </a:r>
            <a:endParaRPr lang="en-IN" dirty="0"/>
          </a:p>
        </p:txBody>
      </p:sp>
      <p:sp>
        <p:nvSpPr>
          <p:cNvPr id="14" name="Google Shape;171;p29">
            <a:extLst>
              <a:ext uri="{FF2B5EF4-FFF2-40B4-BE49-F238E27FC236}">
                <a16:creationId xmlns:a16="http://schemas.microsoft.com/office/drawing/2014/main" id="{5A2654BE-3136-58EF-2EE1-62A2A7D8D9A8}"/>
              </a:ext>
            </a:extLst>
          </p:cNvPr>
          <p:cNvSpPr txBox="1">
            <a:spLocks/>
          </p:cNvSpPr>
          <p:nvPr/>
        </p:nvSpPr>
        <p:spPr>
          <a:xfrm>
            <a:off x="2984910" y="3720229"/>
            <a:ext cx="2560200" cy="45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9pPr>
          </a:lstStyle>
          <a:p>
            <a:pPr marL="0" indent="0" algn="ctr"/>
            <a:r>
              <a:rPr lang="en-US" dirty="0"/>
              <a:t>HIGH</a:t>
            </a:r>
            <a:endParaRPr lang="en-IN" dirty="0"/>
          </a:p>
        </p:txBody>
      </p:sp>
      <p:sp>
        <p:nvSpPr>
          <p:cNvPr id="15" name="Google Shape;172;p29">
            <a:extLst>
              <a:ext uri="{FF2B5EF4-FFF2-40B4-BE49-F238E27FC236}">
                <a16:creationId xmlns:a16="http://schemas.microsoft.com/office/drawing/2014/main" id="{1145F7E5-4B42-3E99-45A9-14620AA892F1}"/>
              </a:ext>
            </a:extLst>
          </p:cNvPr>
          <p:cNvSpPr txBox="1">
            <a:spLocks/>
          </p:cNvSpPr>
          <p:nvPr/>
        </p:nvSpPr>
        <p:spPr>
          <a:xfrm>
            <a:off x="6400802" y="2471896"/>
            <a:ext cx="2560200" cy="45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9pPr>
          </a:lstStyle>
          <a:p>
            <a:pPr marL="0" indent="0"/>
            <a:r>
              <a:rPr lang="en-US" dirty="0"/>
              <a:t>Turn Right</a:t>
            </a:r>
            <a:endParaRPr lang="en-IN" dirty="0"/>
          </a:p>
        </p:txBody>
      </p:sp>
      <p:sp>
        <p:nvSpPr>
          <p:cNvPr id="16" name="Google Shape;172;p29">
            <a:extLst>
              <a:ext uri="{FF2B5EF4-FFF2-40B4-BE49-F238E27FC236}">
                <a16:creationId xmlns:a16="http://schemas.microsoft.com/office/drawing/2014/main" id="{412B3A00-6B53-368D-59F1-D33C7C84FAAD}"/>
              </a:ext>
            </a:extLst>
          </p:cNvPr>
          <p:cNvSpPr txBox="1">
            <a:spLocks/>
          </p:cNvSpPr>
          <p:nvPr/>
        </p:nvSpPr>
        <p:spPr>
          <a:xfrm>
            <a:off x="6400802" y="3096163"/>
            <a:ext cx="2560200" cy="45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9pPr>
          </a:lstStyle>
          <a:p>
            <a:pPr marL="0" indent="0"/>
            <a:r>
              <a:rPr lang="en-US" dirty="0"/>
              <a:t>T</a:t>
            </a:r>
            <a:r>
              <a:rPr lang="en-IN" dirty="0"/>
              <a:t>urn Left</a:t>
            </a:r>
          </a:p>
        </p:txBody>
      </p:sp>
      <p:sp>
        <p:nvSpPr>
          <p:cNvPr id="17" name="Google Shape;172;p29">
            <a:extLst>
              <a:ext uri="{FF2B5EF4-FFF2-40B4-BE49-F238E27FC236}">
                <a16:creationId xmlns:a16="http://schemas.microsoft.com/office/drawing/2014/main" id="{BE07941F-0964-9C24-3AD1-B6C300362A12}"/>
              </a:ext>
            </a:extLst>
          </p:cNvPr>
          <p:cNvSpPr txBox="1">
            <a:spLocks/>
          </p:cNvSpPr>
          <p:nvPr/>
        </p:nvSpPr>
        <p:spPr>
          <a:xfrm>
            <a:off x="6400802" y="3720229"/>
            <a:ext cx="2560200" cy="45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9pPr>
          </a:lstStyle>
          <a:p>
            <a:pPr marL="0" indent="0"/>
            <a:r>
              <a:rPr lang="en-US" dirty="0"/>
              <a:t>Stop</a:t>
            </a:r>
            <a:endParaRPr lang="en-IN" dirty="0"/>
          </a:p>
        </p:txBody>
      </p:sp>
    </p:spTree>
    <p:extLst>
      <p:ext uri="{BB962C8B-B14F-4D97-AF65-F5344CB8AC3E}">
        <p14:creationId xmlns:p14="http://schemas.microsoft.com/office/powerpoint/2010/main" val="566468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E0D1E67F-6F0A-30B6-473C-F6EB7EAB10F3}"/>
            </a:ext>
          </a:extLst>
        </p:cNvPr>
        <p:cNvGrpSpPr/>
        <p:nvPr/>
      </p:nvGrpSpPr>
      <p:grpSpPr>
        <a:xfrm>
          <a:off x="0" y="0"/>
          <a:ext cx="0" cy="0"/>
          <a:chOff x="0" y="0"/>
          <a:chExt cx="0" cy="0"/>
        </a:xfrm>
      </p:grpSpPr>
      <p:sp>
        <p:nvSpPr>
          <p:cNvPr id="26" name="Google Shape;163;p29">
            <a:extLst>
              <a:ext uri="{FF2B5EF4-FFF2-40B4-BE49-F238E27FC236}">
                <a16:creationId xmlns:a16="http://schemas.microsoft.com/office/drawing/2014/main" id="{05E3F916-FEB1-54CA-FF3E-970304777890}"/>
              </a:ext>
            </a:extLst>
          </p:cNvPr>
          <p:cNvSpPr txBox="1">
            <a:spLocks noGrp="1"/>
          </p:cNvSpPr>
          <p:nvPr>
            <p:ph type="title"/>
          </p:nvPr>
        </p:nvSpPr>
        <p:spPr>
          <a:xfrm>
            <a:off x="133565" y="475499"/>
            <a:ext cx="4657096" cy="572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b="1" u="sng" dirty="0"/>
              <a:t>Code Explanation :</a:t>
            </a:r>
            <a:endParaRPr u="sng" dirty="0"/>
          </a:p>
        </p:txBody>
      </p:sp>
      <p:sp>
        <p:nvSpPr>
          <p:cNvPr id="27" name="Google Shape;170;p29">
            <a:extLst>
              <a:ext uri="{FF2B5EF4-FFF2-40B4-BE49-F238E27FC236}">
                <a16:creationId xmlns:a16="http://schemas.microsoft.com/office/drawing/2014/main" id="{B23C0333-9B6D-7EA4-ED54-062B3CFC339E}"/>
              </a:ext>
            </a:extLst>
          </p:cNvPr>
          <p:cNvSpPr txBox="1">
            <a:spLocks noGrp="1"/>
          </p:cNvSpPr>
          <p:nvPr>
            <p:ph type="subTitle" idx="1"/>
          </p:nvPr>
        </p:nvSpPr>
        <p:spPr>
          <a:xfrm>
            <a:off x="122217" y="1232452"/>
            <a:ext cx="8852818" cy="3776870"/>
          </a:xfrm>
          <a:prstGeom prst="rect">
            <a:avLst/>
          </a:prstGeom>
        </p:spPr>
        <p:txBody>
          <a:bodyPr spcFirstLastPara="1" wrap="square" lIns="91425" tIns="91425" rIns="91425" bIns="91425" anchor="t" anchorCtr="0">
            <a:noAutofit/>
          </a:bodyPr>
          <a:lstStyle/>
          <a:p>
            <a:r>
              <a:rPr lang="en-US" sz="1600" dirty="0"/>
              <a:t>Functions Used in the Code (Bullet Points)</a:t>
            </a:r>
          </a:p>
          <a:p>
            <a:endParaRPr lang="en-US" sz="1600" dirty="0"/>
          </a:p>
          <a:p>
            <a:r>
              <a:rPr lang="en-US" sz="1600" dirty="0"/>
              <a:t>1. setup()</a:t>
            </a:r>
          </a:p>
          <a:p>
            <a:pPr lvl="1"/>
            <a:r>
              <a:rPr lang="en-US" sz="1600" dirty="0"/>
              <a:t>a) Runs once when the Arduino starts.</a:t>
            </a:r>
          </a:p>
          <a:p>
            <a:pPr lvl="1"/>
            <a:r>
              <a:rPr lang="en-US" sz="1600" dirty="0"/>
              <a:t>b) Initializes pin modes and starts serial communication. </a:t>
            </a:r>
          </a:p>
          <a:p>
            <a:pPr lvl="1"/>
            <a:endParaRPr lang="en-US" sz="1600" dirty="0"/>
          </a:p>
          <a:p>
            <a:r>
              <a:rPr lang="en-US" sz="1600" dirty="0"/>
              <a:t>2. loop()</a:t>
            </a:r>
          </a:p>
          <a:p>
            <a:pPr lvl="1"/>
            <a:r>
              <a:rPr lang="en-US" sz="1600" dirty="0"/>
              <a:t>a) Main function that runs continuously.</a:t>
            </a:r>
          </a:p>
          <a:p>
            <a:pPr lvl="1"/>
            <a:r>
              <a:rPr lang="en-US" sz="1600" dirty="0"/>
              <a:t>b) Reads sensor values and decides the robot’s movement.</a:t>
            </a:r>
          </a:p>
          <a:p>
            <a:pPr lvl="1"/>
            <a:endParaRPr lang="en-US" sz="1600" dirty="0"/>
          </a:p>
          <a:p>
            <a:r>
              <a:rPr lang="en-US" sz="1600" dirty="0"/>
              <a:t>3. </a:t>
            </a:r>
            <a:r>
              <a:rPr lang="en-US" sz="1600" dirty="0" err="1"/>
              <a:t>moveForward</a:t>
            </a:r>
            <a:r>
              <a:rPr lang="en-US" sz="1600" dirty="0"/>
              <a:t>()</a:t>
            </a:r>
          </a:p>
          <a:p>
            <a:pPr lvl="1"/>
            <a:r>
              <a:rPr lang="en-US" sz="1600" dirty="0"/>
              <a:t>a) User-defined function.</a:t>
            </a:r>
          </a:p>
          <a:p>
            <a:pPr lvl="1"/>
            <a:r>
              <a:rPr lang="en-US" sz="1600" dirty="0"/>
              <a:t>b) Moves the robot forward by rotating both motors in the forward direction.</a:t>
            </a:r>
          </a:p>
          <a:p>
            <a:pPr marL="0" lvl="0" indent="0" algn="l" rtl="0">
              <a:spcBef>
                <a:spcPts val="0"/>
              </a:spcBef>
              <a:spcAft>
                <a:spcPts val="0"/>
              </a:spcAft>
              <a:buNone/>
            </a:pPr>
            <a:endParaRPr lang="en" dirty="0"/>
          </a:p>
        </p:txBody>
      </p:sp>
    </p:spTree>
    <p:extLst>
      <p:ext uri="{BB962C8B-B14F-4D97-AF65-F5344CB8AC3E}">
        <p14:creationId xmlns:p14="http://schemas.microsoft.com/office/powerpoint/2010/main" val="3853182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A36F71E5-A5B4-A5BB-9A98-465350FDBEB1}"/>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AAC451BB-185F-42F2-EC92-5314E0C9E81A}"/>
              </a:ext>
            </a:extLst>
          </p:cNvPr>
          <p:cNvSpPr>
            <a:spLocks noGrp="1" noChangeArrowheads="1"/>
          </p:cNvSpPr>
          <p:nvPr>
            <p:ph type="subTitle" idx="1"/>
          </p:nvPr>
        </p:nvSpPr>
        <p:spPr bwMode="auto">
          <a:xfrm>
            <a:off x="0" y="555813"/>
            <a:ext cx="8535118"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4. </a:t>
            </a:r>
            <a:r>
              <a:rPr kumimoji="0" lang="en-US" altLang="en-US" sz="1600" b="1" i="0" u="none" strike="noStrike" cap="none" normalizeH="0" baseline="0" dirty="0" err="1">
                <a:ln>
                  <a:noFill/>
                </a:ln>
                <a:solidFill>
                  <a:schemeClr val="tx1"/>
                </a:solidFill>
                <a:effectLst/>
                <a:latin typeface="Arial" panose="020B0604020202020204" pitchFamily="34" charset="0"/>
              </a:rPr>
              <a:t>turnRight</a:t>
            </a:r>
            <a:r>
              <a:rPr kumimoji="0" lang="en-US" altLang="en-US" sz="1600" b="1" i="0" u="none" strike="noStrike" cap="none" normalizeH="0" baseline="0" dirty="0">
                <a:ln>
                  <a:noFill/>
                </a:ln>
                <a:solidFill>
                  <a:schemeClr val="tx1"/>
                </a:solidFill>
                <a:effectLst/>
                <a:latin typeface="Arial" panose="020B0604020202020204" pitchFamily="34" charset="0"/>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User-defined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Turns the robot to the right by reversing the left motor and moving the right motor forward.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600" dirty="0">
                <a:solidFill>
                  <a:schemeClr val="tx1"/>
                </a:solidFill>
                <a:latin typeface="Arial" panose="020B0604020202020204" pitchFamily="34" charset="0"/>
              </a:rPr>
              <a:t>5. </a:t>
            </a:r>
            <a:r>
              <a:rPr kumimoji="0" lang="en-US" altLang="en-US" sz="1600" b="1" i="0" u="none" strike="noStrike" cap="none" normalizeH="0" baseline="0" dirty="0" err="1">
                <a:ln>
                  <a:noFill/>
                </a:ln>
                <a:solidFill>
                  <a:schemeClr val="tx1"/>
                </a:solidFill>
                <a:effectLst/>
                <a:latin typeface="Arial" panose="020B0604020202020204" pitchFamily="34" charset="0"/>
              </a:rPr>
              <a:t>turnLeft</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User-defined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Turns the robot to the left by moving the left motor forward and reversing the right motor.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600" dirty="0">
                <a:solidFill>
                  <a:schemeClr val="tx1"/>
                </a:solidFill>
                <a:latin typeface="Arial" panose="020B0604020202020204" pitchFamily="34" charset="0"/>
              </a:rPr>
              <a:t>6. </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stopMotors</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User-defined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Stops both motors by setting motor speed to zero.</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600" dirty="0">
                <a:solidFill>
                  <a:schemeClr val="tx1"/>
                </a:solidFill>
                <a:latin typeface="Arial" panose="020B0604020202020204" pitchFamily="34" charset="0"/>
              </a:rPr>
              <a:t>7. </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digitalRead</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Built-in Arduino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Reads the HIGH or LOW signal from the IR sensors.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7547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A094C612-87DD-5906-B68E-45D73BEB77F4}"/>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34FA69BB-D07C-1C9C-D69A-915FE6305436}"/>
              </a:ext>
            </a:extLst>
          </p:cNvPr>
          <p:cNvSpPr>
            <a:spLocks noGrp="1" noChangeArrowheads="1"/>
          </p:cNvSpPr>
          <p:nvPr>
            <p:ph type="subTitle" idx="1"/>
          </p:nvPr>
        </p:nvSpPr>
        <p:spPr bwMode="auto">
          <a:xfrm>
            <a:off x="0" y="309593"/>
            <a:ext cx="853511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600" dirty="0"/>
              <a:t>8. </a:t>
            </a:r>
            <a:r>
              <a:rPr lang="en-IN" sz="1600" dirty="0" err="1"/>
              <a:t>digitalWrite</a:t>
            </a:r>
            <a:r>
              <a:rPr lang="en-IN" sz="1600" dirty="0"/>
              <a:t>()</a:t>
            </a:r>
          </a:p>
          <a:p>
            <a:pPr lvl="1"/>
            <a:r>
              <a:rPr lang="en-IN" sz="1600" dirty="0"/>
              <a:t>a) Built-in Arduino function.</a:t>
            </a:r>
          </a:p>
          <a:p>
            <a:pPr lvl="1"/>
            <a:r>
              <a:rPr lang="en-IN" sz="1600" dirty="0"/>
              <a:t>b) Sends HIGH or LOW signals to motor driver pins to control motor direction.</a:t>
            </a:r>
          </a:p>
          <a:p>
            <a:pPr lvl="1"/>
            <a:endParaRPr lang="en-IN" sz="1600" dirty="0"/>
          </a:p>
          <a:p>
            <a:r>
              <a:rPr lang="en-IN" sz="1600" dirty="0"/>
              <a:t>9. </a:t>
            </a:r>
            <a:r>
              <a:rPr lang="en-IN" sz="1600" dirty="0" err="1"/>
              <a:t>analogWrite</a:t>
            </a:r>
            <a:r>
              <a:rPr lang="en-IN" sz="1600" dirty="0"/>
              <a:t>()</a:t>
            </a:r>
          </a:p>
          <a:p>
            <a:pPr lvl="1"/>
            <a:r>
              <a:rPr lang="en-IN" sz="1600" dirty="0"/>
              <a:t>a) Built-in Arduino function.</a:t>
            </a:r>
          </a:p>
          <a:p>
            <a:pPr lvl="1"/>
            <a:r>
              <a:rPr lang="en-IN" sz="1600" dirty="0"/>
              <a:t>b) Generates PWM signals to control motor speed.</a:t>
            </a:r>
          </a:p>
          <a:p>
            <a:pPr lvl="1"/>
            <a:endParaRPr lang="en-IN" sz="1600" dirty="0"/>
          </a:p>
          <a:p>
            <a:r>
              <a:rPr lang="en-IN" sz="1600" dirty="0"/>
              <a:t>10. delay()</a:t>
            </a:r>
          </a:p>
          <a:p>
            <a:pPr lvl="1"/>
            <a:r>
              <a:rPr lang="en-IN" sz="1600" dirty="0"/>
              <a:t>a) Pauses the program for a specific time in milliseconds.</a:t>
            </a:r>
          </a:p>
          <a:p>
            <a:pPr lvl="1"/>
            <a:endParaRPr lang="en-IN" sz="1600" dirty="0"/>
          </a:p>
          <a:p>
            <a:r>
              <a:rPr lang="en-IN" sz="1600" dirty="0"/>
              <a:t>11. </a:t>
            </a:r>
            <a:r>
              <a:rPr lang="en-IN" sz="1600" dirty="0" err="1"/>
              <a:t>Serial.begin</a:t>
            </a:r>
            <a:r>
              <a:rPr lang="en-IN" sz="1600" dirty="0"/>
              <a:t>()</a:t>
            </a:r>
          </a:p>
          <a:p>
            <a:pPr lvl="1"/>
            <a:r>
              <a:rPr lang="en-IN" sz="1600" dirty="0"/>
              <a:t>b) Starts serial communication between Arduino and computer.</a:t>
            </a:r>
          </a:p>
          <a:p>
            <a:pPr lvl="1"/>
            <a:endParaRPr lang="en-IN" sz="1600" dirty="0"/>
          </a:p>
          <a:p>
            <a:r>
              <a:rPr lang="en-IN" sz="1600" dirty="0"/>
              <a:t>12. </a:t>
            </a:r>
            <a:r>
              <a:rPr lang="en-IN" sz="1600" dirty="0" err="1"/>
              <a:t>Serial.print</a:t>
            </a:r>
            <a:r>
              <a:rPr lang="en-IN" sz="1600" dirty="0"/>
              <a:t>() / </a:t>
            </a:r>
            <a:r>
              <a:rPr lang="en-IN" sz="1600" dirty="0" err="1"/>
              <a:t>Serial.println</a:t>
            </a:r>
            <a:r>
              <a:rPr lang="en-IN" sz="1600" dirty="0"/>
              <a:t>()</a:t>
            </a:r>
          </a:p>
          <a:p>
            <a:pPr lvl="1"/>
            <a:r>
              <a:rPr lang="en-IN" sz="1600" dirty="0"/>
              <a:t>a) Displays sensor values and messages in the Serial Monitor for debugging.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3738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9F6607FC-3C9D-6591-AA47-3AD1807A1C5D}"/>
            </a:ext>
          </a:extLst>
        </p:cNvPr>
        <p:cNvGrpSpPr/>
        <p:nvPr/>
      </p:nvGrpSpPr>
      <p:grpSpPr>
        <a:xfrm>
          <a:off x="0" y="0"/>
          <a:ext cx="0" cy="0"/>
          <a:chOff x="0" y="0"/>
          <a:chExt cx="0" cy="0"/>
        </a:xfrm>
      </p:grpSpPr>
      <p:sp>
        <p:nvSpPr>
          <p:cNvPr id="26" name="Google Shape;163;p29">
            <a:extLst>
              <a:ext uri="{FF2B5EF4-FFF2-40B4-BE49-F238E27FC236}">
                <a16:creationId xmlns:a16="http://schemas.microsoft.com/office/drawing/2014/main" id="{44C7C453-2053-36EB-2D5D-3712DC43C67B}"/>
              </a:ext>
            </a:extLst>
          </p:cNvPr>
          <p:cNvSpPr txBox="1">
            <a:spLocks noGrp="1"/>
          </p:cNvSpPr>
          <p:nvPr>
            <p:ph type="title"/>
          </p:nvPr>
        </p:nvSpPr>
        <p:spPr>
          <a:xfrm>
            <a:off x="122217" y="204695"/>
            <a:ext cx="4657096" cy="572700"/>
          </a:xfrm>
          <a:prstGeom prst="rect">
            <a:avLst/>
          </a:prstGeom>
          <a:effectLst>
            <a:outerShdw blurRad="57150" dist="19050" dir="5400000" algn="bl" rotWithShape="0">
              <a:schemeClr val="lt2">
                <a:alpha val="50000"/>
              </a:scheme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b="1" u="sng" dirty="0"/>
              <a:t>Result</a:t>
            </a:r>
            <a:endParaRPr u="sng" dirty="0"/>
          </a:p>
        </p:txBody>
      </p:sp>
      <p:sp>
        <p:nvSpPr>
          <p:cNvPr id="27" name="Google Shape;170;p29">
            <a:extLst>
              <a:ext uri="{FF2B5EF4-FFF2-40B4-BE49-F238E27FC236}">
                <a16:creationId xmlns:a16="http://schemas.microsoft.com/office/drawing/2014/main" id="{5DA18515-26F7-EC1E-4515-6D1D2CBFA153}"/>
              </a:ext>
            </a:extLst>
          </p:cNvPr>
          <p:cNvSpPr txBox="1">
            <a:spLocks noGrp="1"/>
          </p:cNvSpPr>
          <p:nvPr>
            <p:ph type="subTitle" idx="1"/>
          </p:nvPr>
        </p:nvSpPr>
        <p:spPr>
          <a:xfrm>
            <a:off x="145591" y="970950"/>
            <a:ext cx="8852818" cy="176916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designed line following car successfully detects and follows a predefined path marked with a black line on a white surface.</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The IR sensors continuously monitor the line position, and the Aurdino processes this data in real time to adjust motor movement.</a:t>
            </a:r>
          </a:p>
        </p:txBody>
      </p:sp>
      <p:sp>
        <p:nvSpPr>
          <p:cNvPr id="2" name="Google Shape;163;p29">
            <a:extLst>
              <a:ext uri="{FF2B5EF4-FFF2-40B4-BE49-F238E27FC236}">
                <a16:creationId xmlns:a16="http://schemas.microsoft.com/office/drawing/2014/main" id="{B7044E2B-95DF-0FD4-06C2-9B9F4D4B924D}"/>
              </a:ext>
            </a:extLst>
          </p:cNvPr>
          <p:cNvSpPr txBox="1">
            <a:spLocks/>
          </p:cNvSpPr>
          <p:nvPr/>
        </p:nvSpPr>
        <p:spPr>
          <a:xfrm>
            <a:off x="0" y="2715267"/>
            <a:ext cx="4657096" cy="572700"/>
          </a:xfrm>
          <a:prstGeom prst="rect">
            <a:avLst/>
          </a:prstGeom>
          <a:noFill/>
          <a:ln>
            <a:noFill/>
          </a:ln>
          <a:effectLst>
            <a:outerShdw blurRad="57150" dist="19050" dir="5400000" algn="bl" rotWithShape="0">
              <a:schemeClr val="lt2">
                <a:alpha val="50000"/>
              </a:scheme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1pPr>
            <a:lvl2pPr marR="0" lvl="1"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2pPr>
            <a:lvl3pPr marR="0" lvl="2"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3pPr>
            <a:lvl4pPr marR="0" lvl="3"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4pPr>
            <a:lvl5pPr marR="0" lvl="4"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5pPr>
            <a:lvl6pPr marR="0" lvl="5"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6pPr>
            <a:lvl7pPr marR="0" lvl="6"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7pPr>
            <a:lvl8pPr marR="0" lvl="7"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8pPr>
            <a:lvl9pPr marR="0" lvl="8" algn="l" rtl="0">
              <a:lnSpc>
                <a:spcPct val="100000"/>
              </a:lnSpc>
              <a:spcBef>
                <a:spcPts val="0"/>
              </a:spcBef>
              <a:spcAft>
                <a:spcPts val="0"/>
              </a:spcAft>
              <a:buClr>
                <a:schemeClr val="lt2"/>
              </a:buClr>
              <a:buSzPts val="3000"/>
              <a:buFont typeface="Audiowide"/>
              <a:buNone/>
              <a:defRPr sz="3000" b="0" i="0" u="none" strike="noStrike" cap="none">
                <a:solidFill>
                  <a:schemeClr val="lt2"/>
                </a:solidFill>
                <a:latin typeface="Audiowide"/>
                <a:ea typeface="Audiowide"/>
                <a:cs typeface="Audiowide"/>
                <a:sym typeface="Audiowide"/>
              </a:defRPr>
            </a:lvl9pPr>
          </a:lstStyle>
          <a:p>
            <a:r>
              <a:rPr lang="en-US" b="1" u="sng" dirty="0"/>
              <a:t>O</a:t>
            </a:r>
            <a:r>
              <a:rPr lang="en-IN" b="1" u="sng" dirty="0" err="1"/>
              <a:t>bserved</a:t>
            </a:r>
            <a:r>
              <a:rPr lang="en-IN" b="1" u="sng" dirty="0"/>
              <a:t> Output</a:t>
            </a:r>
            <a:endParaRPr lang="en-IN" u="sng" dirty="0"/>
          </a:p>
        </p:txBody>
      </p:sp>
      <p:sp>
        <p:nvSpPr>
          <p:cNvPr id="3" name="Google Shape;170;p29">
            <a:extLst>
              <a:ext uri="{FF2B5EF4-FFF2-40B4-BE49-F238E27FC236}">
                <a16:creationId xmlns:a16="http://schemas.microsoft.com/office/drawing/2014/main" id="{D9044777-555B-693C-07B1-F8CF4C63A5BF}"/>
              </a:ext>
            </a:extLst>
          </p:cNvPr>
          <p:cNvSpPr txBox="1">
            <a:spLocks/>
          </p:cNvSpPr>
          <p:nvPr/>
        </p:nvSpPr>
        <p:spPr>
          <a:xfrm>
            <a:off x="122217" y="3287967"/>
            <a:ext cx="8852818" cy="17691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Open Sans"/>
              <a:buNone/>
              <a:defRPr sz="1800" b="1"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2000"/>
              <a:buFont typeface="Open Sans"/>
              <a:buNone/>
              <a:defRPr sz="2000" b="1" i="0" u="none" strike="noStrike" cap="none">
                <a:solidFill>
                  <a:schemeClr val="dk1"/>
                </a:solidFill>
                <a:latin typeface="Open Sans"/>
                <a:ea typeface="Open Sans"/>
                <a:cs typeface="Open Sans"/>
                <a:sym typeface="Open Sans"/>
              </a:defRPr>
            </a:lvl9pPr>
          </a:lstStyle>
          <a:p>
            <a:pPr marL="285750" indent="-285750">
              <a:buFont typeface="Arial" panose="020B0604020202020204" pitchFamily="34" charset="0"/>
              <a:buChar char="•"/>
            </a:pPr>
            <a:r>
              <a:rPr lang="en" dirty="0"/>
              <a:t>Car moves forward when both sensors detect line.</a:t>
            </a:r>
          </a:p>
          <a:p>
            <a:pPr marL="285750" indent="-285750">
              <a:buFont typeface="Arial" panose="020B0604020202020204" pitchFamily="34" charset="0"/>
              <a:buChar char="•"/>
            </a:pPr>
            <a:endParaRPr lang="en" dirty="0"/>
          </a:p>
          <a:p>
            <a:pPr marL="285750" indent="-285750">
              <a:buFont typeface="Arial" panose="020B0604020202020204" pitchFamily="34" charset="0"/>
              <a:buChar char="•"/>
            </a:pPr>
            <a:r>
              <a:rPr lang="en" dirty="0"/>
              <a:t>Car moves left or right when the line shifts under one sensor.</a:t>
            </a:r>
          </a:p>
          <a:p>
            <a:pPr marL="285750" indent="-285750">
              <a:buFont typeface="Arial" panose="020B0604020202020204" pitchFamily="34" charset="0"/>
              <a:buChar char="•"/>
            </a:pPr>
            <a:endParaRPr lang="en" dirty="0"/>
          </a:p>
          <a:p>
            <a:pPr marL="285750" indent="-285750">
              <a:buFont typeface="Arial" panose="020B0604020202020204" pitchFamily="34" charset="0"/>
              <a:buChar char="•"/>
            </a:pPr>
            <a:r>
              <a:rPr lang="en" dirty="0"/>
              <a:t>Robot stops when no line is detected.</a:t>
            </a:r>
          </a:p>
        </p:txBody>
      </p:sp>
    </p:spTree>
    <p:extLst>
      <p:ext uri="{BB962C8B-B14F-4D97-AF65-F5344CB8AC3E}">
        <p14:creationId xmlns:p14="http://schemas.microsoft.com/office/powerpoint/2010/main" val="2379682643"/>
      </p:ext>
    </p:extLst>
  </p:cSld>
  <p:clrMapOvr>
    <a:masterClrMapping/>
  </p:clrMapOvr>
</p:sld>
</file>

<file path=ppt/theme/theme1.xml><?xml version="1.0" encoding="utf-8"?>
<a:theme xmlns:a="http://schemas.openxmlformats.org/drawingml/2006/main" name="Cars Technology Innovation Newsletter by Slidesgo">
  <a:themeElements>
    <a:clrScheme name="Simple Light">
      <a:dk1>
        <a:srgbClr val="FFFFFF"/>
      </a:dk1>
      <a:lt1>
        <a:srgbClr val="0B171E"/>
      </a:lt1>
      <a:dk2>
        <a:srgbClr val="1F3947"/>
      </a:dk2>
      <a:lt2>
        <a:srgbClr val="2DCECF"/>
      </a:lt2>
      <a:accent1>
        <a:srgbClr val="80C3C3"/>
      </a:accent1>
      <a:accent2>
        <a:srgbClr val="B8DDDD"/>
      </a:accent2>
      <a:accent3>
        <a:srgbClr val="E0EEEE"/>
      </a:accent3>
      <a:accent4>
        <a:srgbClr val="D01A3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631</Words>
  <Application>Microsoft Office PowerPoint</Application>
  <PresentationFormat>On-screen Show (16:9)</PresentationFormat>
  <Paragraphs>115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Audiowide</vt:lpstr>
      <vt:lpstr>Open Sans</vt:lpstr>
      <vt:lpstr>Cars Technology Innovation Newsletter by Slidesgo</vt:lpstr>
      <vt:lpstr>Smart Car : IoT Based Line Following Car</vt:lpstr>
      <vt:lpstr>Presented by : -</vt:lpstr>
      <vt:lpstr>Problem Statement</vt:lpstr>
      <vt:lpstr>Application Areas :</vt:lpstr>
      <vt:lpstr>Circuit Diagram (TinkerCAD) :</vt:lpstr>
      <vt:lpstr>Working Principle</vt:lpstr>
      <vt:lpstr>Logic Used : -</vt:lpstr>
      <vt:lpstr>Code Explanation :</vt:lpstr>
      <vt:lpstr>PowerPoint Presentation</vt:lpstr>
      <vt:lpstr>PowerPoint Presentation</vt:lpstr>
      <vt:lpstr>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priyanshu29085@outlook.com</cp:lastModifiedBy>
  <cp:revision>18</cp:revision>
  <dcterms:modified xsi:type="dcterms:W3CDTF">2026-03-09T19:52:55Z</dcterms:modified>
</cp:coreProperties>
</file>